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08cf392-9914-d85c-a058-0e292411ff73}">
          <p14:sldIdLst>
            <p14:sldId id="256"/>
          </p14:sldIdLst>
        </p14:section>
        <p14:section name="1 Scenario" id="{af764783-0bc6-1553-f9cf-8c5a309aa77e}">
          <p14:sldIdLst>
            <p14:sldId id="257"/>
          </p14:sldIdLst>
        </p14:section>
        <p14:section name="2 Data" id="{44974777-f1f6-a143-c851-a8a8d1b497df}">
          <p14:sldIdLst>
            <p14:sldId id="258"/>
          </p14:sldIdLst>
        </p14:section>
        <p14:section name="3 Visit strategy" id="{29b3b5c0-7199-af37-b0ce-253c0b630c7d}">
          <p14:sldIdLst>
            <p14:sldId id="259"/>
            <p14:sldId id="260"/>
          </p14:sldIdLst>
        </p14:section>
        <p14:section name="4 Iteration" id="{9d5e9ce7-ce9e-4ee5-7481-b404cf3b39a9}">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3443A"/>
                </a:solidFill>
                <a:latin typeface="+mn-lt"/>
              </a:defRPr>
            </a:pPr>
            <a:r>
              <a:rPr sz="1200" b="0" i="0" u="none" strike="noStrike">
                <a:solidFill>
                  <a:srgbClr val="33443A"/>
                </a:solidFill>
                <a:latin typeface="+mn-lt"/>
              </a:rPr>
              <a:t>90-day churn rate: with vs without the signal</a:t>
            </a:r>
          </a:p>
        </c:rich>
      </c:tx>
      <c:layout/>
      <c:overlay val="0"/>
    </c:title>
    <c:autoTitleDeleted val="0"/>
    <c:plotArea>
      <c:layout/>
      <c:barChart>
        <c:barDir val="bar"/>
        <c:grouping val="clustered"/>
        <c:varyColors val="0"/>
        <c:ser>
          <c:idx val="0"/>
          <c:order val="0"/>
          <c:tx>
            <c:strRef>
              <c:f>Sheet1!$B$1</c:f>
              <c:strCache>
                <c:ptCount val="1"/>
                <c:pt idx="0">
                  <c:v>With signal</c:v>
                </c:pt>
              </c:strCache>
            </c:strRef>
          </c:tx>
          <c:spPr>
            <a:solidFill>
              <a:srgbClr val="FF5A5F"/>
            </a:solidFill>
            <a:effectLst/>
          </c:spPr>
          <c:invertIfNegative val="0"/>
          <c:dLbls>
            <c:numFmt formatCode="0&quot;%&quot;" sourceLinked="0"/>
            <c:txPr>
              <a:bodyPr/>
              <a:lstStyle/>
              <a:p>
                <a:pPr>
                  <a:defRPr b="0" i="0" strike="noStrike" sz="1000" u="none">
                    <a:solidFill>
                      <a:srgbClr val="33443A"/>
                    </a:solidFill>
                    <a:latin typeface="+mn-lt"/>
                  </a:defRPr>
                </a:pPr>
              </a:p>
            </c:txPr>
            <c:showLegendKey val="0"/>
            <c:showVal val="1"/>
            <c:showCatName val="0"/>
            <c:showSerName val="0"/>
            <c:showPercent val="0"/>
            <c:showBubbleSize val="0"/>
            <c:showLeaderLines val="0"/>
          </c:dLbls>
          <c:cat>
            <c:multiLvlStrRef>
              <c:f>Sheet1!$A$2:$A$6</c:f>
              <c:multiLvlStrCache>
                <c:ptCount val="5"/>
                <c:lvl>
                  <c:pt idx="0">
                    <c:v>Silent last 90 days</c:v>
                  </c:pt>
                  <c:pt idx="1">
                    <c:v>Rhythm broken (≥2× own gap)</c:v>
                  </c:pt>
                  <c:pt idx="2">
                    <c:v>Order frequency −50%</c:v>
                  </c:pt>
                  <c:pt idx="3">
                    <c:v>Late delivery</c:v>
                  </c:pt>
                  <c:pt idx="4">
                    <c:v>Low review (≤2★)</c:v>
                  </c:pt>
                </c:lvl>
              </c:multiLvlStrCache>
            </c:multiLvlStrRef>
          </c:cat>
          <c:val>
            <c:numRef>
              <c:f>Sheet1!$B$2:$B$6</c:f>
              <c:numCache>
                <c:formatCode>General</c:formatCode>
                <c:ptCount val="5"/>
                <c:pt idx="0">
                  <c:v>53</c:v>
                </c:pt>
                <c:pt idx="1">
                  <c:v>39</c:v>
                </c:pt>
                <c:pt idx="2">
                  <c:v>39</c:v>
                </c:pt>
                <c:pt idx="3">
                  <c:v>23</c:v>
                </c:pt>
                <c:pt idx="4">
                  <c:v>24</c:v>
                </c:pt>
              </c:numCache>
            </c:numRef>
          </c:val>
        </c:ser>
        <c:ser>
          <c:idx val="1"/>
          <c:order val="1"/>
          <c:tx>
            <c:strRef>
              <c:f>Sheet1!$C$1</c:f>
              <c:strCache>
                <c:ptCount val="1"/>
                <c:pt idx="0">
                  <c:v>Without</c:v>
                </c:pt>
              </c:strCache>
            </c:strRef>
          </c:tx>
          <c:spPr>
            <a:solidFill>
              <a:srgbClr val="B9C7BD"/>
            </a:solidFill>
            <a:effectLst/>
          </c:spPr>
          <c:invertIfNegative val="0"/>
          <c:dLbls>
            <c:numFmt formatCode="0&quot;%&quot;" sourceLinked="0"/>
            <c:txPr>
              <a:bodyPr/>
              <a:lstStyle/>
              <a:p>
                <a:pPr>
                  <a:defRPr b="0" i="0" strike="noStrike" sz="1000" u="none">
                    <a:solidFill>
                      <a:srgbClr val="33443A"/>
                    </a:solidFill>
                    <a:latin typeface="+mn-lt"/>
                  </a:defRPr>
                </a:pPr>
              </a:p>
            </c:txPr>
            <c:showLegendKey val="0"/>
            <c:showVal val="1"/>
            <c:showCatName val="0"/>
            <c:showSerName val="0"/>
            <c:showPercent val="0"/>
            <c:showBubbleSize val="0"/>
            <c:showLeaderLines val="0"/>
          </c:dLbls>
          <c:cat>
            <c:multiLvlStrRef>
              <c:f>Sheet1!$A$2:$A$6</c:f>
              <c:multiLvlStrCache>
                <c:ptCount val="5"/>
                <c:lvl>
                  <c:pt idx="0">
                    <c:v>Silent last 90 days</c:v>
                  </c:pt>
                  <c:pt idx="1">
                    <c:v>Rhythm broken (≥2× own gap)</c:v>
                  </c:pt>
                  <c:pt idx="2">
                    <c:v>Order frequency −50%</c:v>
                  </c:pt>
                  <c:pt idx="3">
                    <c:v>Late delivery</c:v>
                  </c:pt>
                  <c:pt idx="4">
                    <c:v>Low review (≤2★)</c:v>
                  </c:pt>
                </c:lvl>
              </c:multiLvlStrCache>
            </c:multiLvlStrRef>
          </c:cat>
          <c:val>
            <c:numRef>
              <c:f>Sheet1!$C$2:$C$6</c:f>
              <c:numCache>
                <c:formatCode>General</c:formatCode>
                <c:ptCount val="5"/>
                <c:pt idx="0">
                  <c:v>24</c:v>
                </c:pt>
                <c:pt idx="1">
                  <c:v>25</c:v>
                </c:pt>
                <c:pt idx="2">
                  <c:v>24</c:v>
                </c:pt>
                <c:pt idx="3">
                  <c:v>30</c:v>
                </c:pt>
                <c:pt idx="4">
                  <c:v>32</c:v>
                </c:pt>
              </c:numCache>
            </c:numRef>
          </c:val>
        </c:ser>
        <c:dLbls>
          <c:numFmt formatCode="0&quot;%&quot;" sourceLinked="0"/>
          <c:txPr>
            <a:bodyPr/>
            <a:lstStyle/>
            <a:p>
              <a:pPr>
                <a:defRPr b="0" i="0" strike="noStrike" sz="1000" u="none">
                  <a:solidFill>
                    <a:srgbClr val="3344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43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Reps manage hundreds of accounts and notice churn too late. Hoppy turns the order data into a planned, approved, well-briefed visit. Four questions in four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scenario: the brief says the action layer matters most. And we built for real use on the road: drive mode shows one destination and one task, with voice briefing and navigation, so the rep never has to read while driving. Rep visits are the scarcest and most decisive resource, so we design around the trip: plan, brief, visit,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surprises. First, complaints are not a churn signal on their own: busy accounts simply have more orders to complain about. Second, a bad month is not risk; breaking your own rhythm is. The score is validated on unseen months and re-weighted every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 we never let geography override priority, every P1 comes before any P2. Inside each group Hoppy orders stops nearest-first and then improves the order with 2-opt; on the demo day that is 42.5 km instead of 57 km in plain risk order, and a brute-force check confirms it is the shortest order for those six stops. Next step: opening hours and live traffic. One numbering, two channels: P1 and P2 are worth the car, P3 to P5 Hoppy handles remotely. Because manager and GM approvals take one to two days, Hoppy prepares the plan three days before the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Approval levels are simulated; the profit model is a testable estimate that we will check against real results before rollout. Incentives are never straight price cuts: they are tied to the next order, a bundle such as a pizza-partner combo, or brand support. Read one row: of R$1,575 at risk the offer keeps 15%, R$236 of sales; at 35% margin that is R$83 profit; minus R$25 cost gives R$58. Tier 3 wins here because the lapse is deep (4.4× usual gap, +15 points lift). Each tier is its own scenario; we compare, never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we assumed today becomes measured in the pilot: each logged visit outcome is training data. Retention is not the end goal: the reasons saved and lost accounts drifted away flow back to product, quality and service teams, so fewer accounts drift in the first place. The goal is brand loyalty. Success metrics: lower churn in P1/P2 vs control, more saves per visit, every at-risk account gets an action, zero unapproved deals.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5669280" cy="17373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3017520"/>
            <a:ext cx="5669280" cy="128016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66756B"/>
                </a:solidFill>
              </a:rPr>
              <a:t>Retention Copilot · HEINEKEN × AISO challenge</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756B"/>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756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5669280" cy="1737360"/>
          </a:xfrm>
          <a:prstGeom prst="rect">
            <a:avLst/>
          </a:prstGeom>
          <a:noFill/>
          <a:ln/>
        </p:spPr>
        <p:txBody>
          <a:bodyPr wrap="square" rtlCol="0" anchor="t"/>
          <a:lstStyle/>
          <a:p>
            <a:pPr algn="l" indent="0" marL="0">
              <a:buNone/>
            </a:pPr>
            <a:r>
              <a:rPr lang="en-US" sz="3600" b="1" dirty="0">
                <a:solidFill>
                  <a:schemeClr val="bg1"/>
                </a:solidFill>
              </a:rPr>
              <a:t>Retention Copilot: Hoppy plans the visits that save accounts</a:t>
            </a:r>
            <a:endParaRPr lang="en-US" sz="3600" dirty="0"/>
          </a:p>
        </p:txBody>
      </p:sp>
      <p:sp>
        <p:nvSpPr>
          <p:cNvPr id="3" name="Text 0"/>
          <p:cNvSpPr/>
          <p:nvPr>
            <p:ph idx="101" type="body" hasCustomPrompt="1"/>
          </p:nvPr>
        </p:nvSpPr>
        <p:spPr>
          <a:xfrm>
            <a:off x="548640" y="3017520"/>
            <a:ext cx="5669280" cy="1280160"/>
          </a:xfrm>
          <a:prstGeom prst="rect">
            <a:avLst/>
          </a:prstGeom>
          <a:noFill/>
          <a:ln/>
        </p:spPr>
        <p:txBody>
          <a:bodyPr wrap="square" rtlCol="0" anchor="t"/>
          <a:lstStyle/>
          <a:p>
            <a:pPr indent="0" marL="0">
              <a:buNone/>
            </a:pPr>
            <a:r>
              <a:rPr lang="en-US" sz="1600" dirty="0">
                <a:solidFill>
                  <a:schemeClr val="bg2"/>
                </a:solidFill>
              </a:rPr>
              <a:t>Four questions: why the rep’s trip · what the data really says · how each visit is planned · which data makes it smarter next.</a:t>
            </a:r>
            <a:endParaRPr lang="en-US" sz="1600" dirty="0"/>
          </a:p>
        </p:txBody>
      </p:sp>
      <p:pic>
        <p:nvPicPr>
          <p:cNvPr id="4" name="Hoppy mascot" descr="preencoded.png">    </p:cNvPr>
          <p:cNvPicPr>
            <a:picLocks noChangeAspect="1"/>
          </p:cNvPicPr>
          <p:nvPr/>
        </p:nvPicPr>
        <p:blipFill>
          <a:blip r:embed="rId1"/>
          <a:stretch>
            <a:fillRect/>
          </a:stretch>
        </p:blipFill>
        <p:spPr>
          <a:xfrm>
            <a:off x="6675120" y="822960"/>
            <a:ext cx="1920240" cy="3200400"/>
          </a:xfrm>
          <a:prstGeom prst="rect">
            <a:avLst/>
          </a:prstGeom>
        </p:spPr>
      </p:pic>
      <p:sp>
        <p:nvSpPr>
          <p:cNvPr id="5" name="Text 2"/>
          <p:cNvSpPr txBox="1"/>
          <p:nvPr/>
        </p:nvSpPr>
        <p:spPr>
          <a:xfrm>
            <a:off x="6309360" y="4160520"/>
            <a:ext cx="2651760" cy="274320"/>
          </a:xfrm>
          <a:prstGeom prst="rect">
            <a:avLst/>
          </a:prstGeom>
          <a:noFill/>
          <a:ln/>
        </p:spPr>
        <p:txBody>
          <a:bodyPr wrap="square" lIns="0" tIns="0" rIns="0" bIns="0" rtlCol="0" anchor="t"/>
          <a:lstStyle/>
          <a:p>
            <a:pPr algn="ctr" indent="0" marL="0">
              <a:buNone/>
            </a:pPr>
            <a:r>
              <a:rPr lang="en-US" sz="1200" dirty="0">
                <a:solidFill>
                  <a:schemeClr val="bg2"/>
                </a:solidFill>
              </a:rPr>
              <a:t>Meet Hoppy, the rep’s co-pilot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400" b="1" dirty="0">
                <a:solidFill>
                  <a:schemeClr val="tx1"/>
                </a:solidFill>
              </a:rPr>
              <a:t>1 · We focus on the rep’s trip, where saves happen</a:t>
            </a:r>
            <a:endParaRPr lang="en-US" sz="2400" dirty="0"/>
          </a:p>
        </p:txBody>
      </p:sp>
      <p:sp>
        <p:nvSpPr>
          <p:cNvPr id="3" name="Text 1"/>
          <p:cNvSpPr txBox="1"/>
          <p:nvPr/>
        </p:nvSpPr>
        <p:spPr>
          <a:xfrm>
            <a:off x="457200" y="896112"/>
            <a:ext cx="8229600" cy="320040"/>
          </a:xfrm>
          <a:prstGeom prst="rect">
            <a:avLst/>
          </a:prstGeom>
          <a:noFill/>
          <a:ln/>
        </p:spPr>
        <p:txBody>
          <a:bodyPr wrap="square" lIns="0" tIns="0" rIns="0" bIns="0" rtlCol="0" anchor="t"/>
          <a:lstStyle/>
          <a:p>
            <a:pPr indent="0" marL="0">
              <a:buNone/>
            </a:pPr>
            <a:r>
              <a:rPr lang="en-US" sz="1400" i="1" dirty="0">
                <a:solidFill>
                  <a:srgbClr val="66756B"/>
                </a:solidFill>
              </a:rPr>
              <a:t>Keeping accounts is the core of the problem, and rep time is its scarcest input</a:t>
            </a:r>
            <a:endParaRPr lang="en-US" sz="1400" dirty="0"/>
          </a:p>
        </p:txBody>
      </p:sp>
      <p:sp>
        <p:nvSpPr>
          <p:cNvPr id="4" name="Why card 1"/>
          <p:cNvSpPr/>
          <p:nvPr/>
        </p:nvSpPr>
        <p:spPr>
          <a:xfrm>
            <a:off x="457200" y="1417320"/>
            <a:ext cx="2606040" cy="2377440"/>
          </a:xfrm>
          <a:prstGeom prst="roundRect">
            <a:avLst>
              <a:gd name="adj" fmla="val 4615"/>
            </a:avLst>
          </a:prstGeom>
          <a:solidFill>
            <a:srgbClr val="F3F8F2"/>
          </a:solidFill>
          <a:ln w="12700">
            <a:solidFill>
              <a:srgbClr val="F3F8F2"/>
            </a:solidFill>
            <a:prstDash val="solid"/>
          </a:ln>
        </p:spPr>
      </p:sp>
      <p:sp>
        <p:nvSpPr>
          <p:cNvPr id="5" name="Why icon 1"/>
          <p:cNvSpPr/>
          <p:nvPr/>
        </p:nvSpPr>
        <p:spPr>
          <a:xfrm>
            <a:off x="685800" y="1600200"/>
            <a:ext cx="502920" cy="502920"/>
          </a:xfrm>
          <a:prstGeom prst="ellipse">
            <a:avLst/>
          </a:prstGeom>
          <a:solidFill>
            <a:schemeClr val="accent2"/>
          </a:solidFill>
          <a:ln w="12700">
            <a:solidFill>
              <a:schemeClr val="accent2"/>
            </a:solidFill>
            <a:prstDash val="solid"/>
          </a:ln>
        </p:spPr>
      </p:sp>
      <p:sp>
        <p:nvSpPr>
          <p:cNvPr id="6" name="Text 4"/>
          <p:cNvSpPr txBox="1"/>
          <p:nvPr/>
        </p:nvSpPr>
        <p:spPr>
          <a:xfrm>
            <a:off x="685800" y="1600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685800" y="2240280"/>
            <a:ext cx="2194560" cy="548640"/>
          </a:xfrm>
          <a:prstGeom prst="rect">
            <a:avLst/>
          </a:prstGeom>
          <a:noFill/>
          <a:ln/>
        </p:spPr>
        <p:txBody>
          <a:bodyPr wrap="square" lIns="0" tIns="0" rIns="0" bIns="0" rtlCol="0" anchor="t"/>
          <a:lstStyle/>
          <a:p>
            <a:pPr indent="0" marL="0">
              <a:buNone/>
            </a:pPr>
            <a:r>
              <a:rPr lang="en-US" sz="1500" b="1" dirty="0">
                <a:solidFill>
                  <a:schemeClr val="tx1"/>
                </a:solidFill>
              </a:rPr>
              <a:t>1 rep : hundreds of outlets</a:t>
            </a:r>
            <a:endParaRPr lang="en-US" sz="1500" dirty="0"/>
          </a:p>
        </p:txBody>
      </p:sp>
      <p:sp>
        <p:nvSpPr>
          <p:cNvPr id="8" name="Text 6"/>
          <p:cNvSpPr txBox="1"/>
          <p:nvPr/>
        </p:nvSpPr>
        <p:spPr>
          <a:xfrm>
            <a:off x="685800" y="2788920"/>
            <a:ext cx="2194560" cy="914400"/>
          </a:xfrm>
          <a:prstGeom prst="rect">
            <a:avLst/>
          </a:prstGeom>
          <a:noFill/>
          <a:ln/>
        </p:spPr>
        <p:txBody>
          <a:bodyPr wrap="square" lIns="0" tIns="0" rIns="0" bIns="0" rtlCol="0" anchor="t"/>
          <a:lstStyle/>
          <a:p>
            <a:pPr indent="0" marL="0">
              <a:buNone/>
            </a:pPr>
            <a:r>
              <a:rPr lang="en-US" sz="1200" dirty="0">
                <a:solidFill>
                  <a:srgbClr val="33443A"/>
                </a:solidFill>
              </a:rPr>
              <a:t>A rep sees each account only a few times a year. Time, not data, is the bottleneck.</a:t>
            </a:r>
            <a:endParaRPr lang="en-US" sz="1200" dirty="0"/>
          </a:p>
        </p:txBody>
      </p:sp>
      <p:sp>
        <p:nvSpPr>
          <p:cNvPr id="9" name="Why card 2"/>
          <p:cNvSpPr/>
          <p:nvPr/>
        </p:nvSpPr>
        <p:spPr>
          <a:xfrm>
            <a:off x="3246120" y="1417320"/>
            <a:ext cx="2606040" cy="2377440"/>
          </a:xfrm>
          <a:prstGeom prst="roundRect">
            <a:avLst>
              <a:gd name="adj" fmla="val 4615"/>
            </a:avLst>
          </a:prstGeom>
          <a:solidFill>
            <a:srgbClr val="F3F8F2"/>
          </a:solidFill>
          <a:ln w="12700">
            <a:solidFill>
              <a:srgbClr val="F3F8F2"/>
            </a:solidFill>
            <a:prstDash val="solid"/>
          </a:ln>
        </p:spPr>
      </p:sp>
      <p:sp>
        <p:nvSpPr>
          <p:cNvPr id="10" name="Why icon 2"/>
          <p:cNvSpPr/>
          <p:nvPr/>
        </p:nvSpPr>
        <p:spPr>
          <a:xfrm>
            <a:off x="3474720" y="1600200"/>
            <a:ext cx="502920" cy="502920"/>
          </a:xfrm>
          <a:prstGeom prst="ellipse">
            <a:avLst/>
          </a:prstGeom>
          <a:solidFill>
            <a:schemeClr val="accent3"/>
          </a:solidFill>
          <a:ln w="12700">
            <a:solidFill>
              <a:schemeClr val="accent3"/>
            </a:solidFill>
            <a:prstDash val="solid"/>
          </a:ln>
        </p:spPr>
      </p:sp>
      <p:sp>
        <p:nvSpPr>
          <p:cNvPr id="11" name="Text 9"/>
          <p:cNvSpPr txBox="1"/>
          <p:nvPr/>
        </p:nvSpPr>
        <p:spPr>
          <a:xfrm>
            <a:off x="3474720" y="1600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3474720" y="2240280"/>
            <a:ext cx="2194560" cy="548640"/>
          </a:xfrm>
          <a:prstGeom prst="rect">
            <a:avLst/>
          </a:prstGeom>
          <a:noFill/>
          <a:ln/>
        </p:spPr>
        <p:txBody>
          <a:bodyPr wrap="square" lIns="0" tIns="0" rIns="0" bIns="0" rtlCol="0" anchor="t"/>
          <a:lstStyle/>
          <a:p>
            <a:pPr indent="0" marL="0">
              <a:buNone/>
            </a:pPr>
            <a:r>
              <a:rPr lang="en-US" sz="1500" b="1" dirty="0">
                <a:solidFill>
                  <a:schemeClr val="tx1"/>
                </a:solidFill>
              </a:rPr>
              <a:t>The visit is the moment of truth</a:t>
            </a:r>
            <a:endParaRPr lang="en-US" sz="1500" dirty="0"/>
          </a:p>
        </p:txBody>
      </p:sp>
      <p:sp>
        <p:nvSpPr>
          <p:cNvPr id="13" name="Text 11"/>
          <p:cNvSpPr txBox="1"/>
          <p:nvPr/>
        </p:nvSpPr>
        <p:spPr>
          <a:xfrm>
            <a:off x="3474720" y="2788920"/>
            <a:ext cx="2194560" cy="914400"/>
          </a:xfrm>
          <a:prstGeom prst="rect">
            <a:avLst/>
          </a:prstGeom>
          <a:noFill/>
          <a:ln/>
        </p:spPr>
        <p:txBody>
          <a:bodyPr wrap="square" lIns="0" tIns="0" rIns="0" bIns="0" rtlCol="0" anchor="t"/>
          <a:lstStyle/>
          <a:p>
            <a:pPr indent="0" marL="0">
              <a:buNone/>
            </a:pPr>
            <a:r>
              <a:rPr lang="en-US" sz="1200" dirty="0">
                <a:solidFill>
                  <a:srgbClr val="33443A"/>
                </a:solidFill>
              </a:rPr>
              <a:t>Saves are decided face to face. A late or unprepared visit is a lost account.</a:t>
            </a:r>
            <a:endParaRPr lang="en-US" sz="1200" dirty="0"/>
          </a:p>
        </p:txBody>
      </p:sp>
      <p:sp>
        <p:nvSpPr>
          <p:cNvPr id="14" name="Why card 3"/>
          <p:cNvSpPr/>
          <p:nvPr/>
        </p:nvSpPr>
        <p:spPr>
          <a:xfrm>
            <a:off x="6035040" y="1417320"/>
            <a:ext cx="2606040" cy="2377440"/>
          </a:xfrm>
          <a:prstGeom prst="roundRect">
            <a:avLst>
              <a:gd name="adj" fmla="val 4615"/>
            </a:avLst>
          </a:prstGeom>
          <a:solidFill>
            <a:srgbClr val="F3F8F2"/>
          </a:solidFill>
          <a:ln w="12700">
            <a:solidFill>
              <a:srgbClr val="F3F8F2"/>
            </a:solidFill>
            <a:prstDash val="solid"/>
          </a:ln>
        </p:spPr>
      </p:sp>
      <p:sp>
        <p:nvSpPr>
          <p:cNvPr id="15" name="Why icon 3"/>
          <p:cNvSpPr/>
          <p:nvPr/>
        </p:nvSpPr>
        <p:spPr>
          <a:xfrm>
            <a:off x="6263640" y="1600200"/>
            <a:ext cx="502920" cy="502920"/>
          </a:xfrm>
          <a:prstGeom prst="ellipse">
            <a:avLst/>
          </a:prstGeom>
          <a:solidFill>
            <a:schemeClr val="accent1"/>
          </a:solidFill>
          <a:ln w="12700">
            <a:solidFill>
              <a:schemeClr val="accent1"/>
            </a:solidFill>
            <a:prstDash val="solid"/>
          </a:ln>
        </p:spPr>
      </p:sp>
      <p:sp>
        <p:nvSpPr>
          <p:cNvPr id="16" name="Text 14"/>
          <p:cNvSpPr txBox="1"/>
          <p:nvPr/>
        </p:nvSpPr>
        <p:spPr>
          <a:xfrm>
            <a:off x="6263640" y="1600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5"/>
          <p:cNvSpPr txBox="1"/>
          <p:nvPr/>
        </p:nvSpPr>
        <p:spPr>
          <a:xfrm>
            <a:off x="6263640" y="2240280"/>
            <a:ext cx="2194560" cy="548640"/>
          </a:xfrm>
          <a:prstGeom prst="rect">
            <a:avLst/>
          </a:prstGeom>
          <a:noFill/>
          <a:ln/>
        </p:spPr>
        <p:txBody>
          <a:bodyPr wrap="square" lIns="0" tIns="0" rIns="0" bIns="0" rtlCol="0" anchor="t"/>
          <a:lstStyle/>
          <a:p>
            <a:pPr indent="0" marL="0">
              <a:buNone/>
            </a:pPr>
            <a:r>
              <a:rPr lang="en-US" sz="1500" b="1" dirty="0">
                <a:solidFill>
                  <a:schemeClr val="tx1"/>
                </a:solidFill>
              </a:rPr>
              <a:t>So we equip the whole trip</a:t>
            </a:r>
            <a:endParaRPr lang="en-US" sz="1500" dirty="0"/>
          </a:p>
        </p:txBody>
      </p:sp>
      <p:sp>
        <p:nvSpPr>
          <p:cNvPr id="18" name="Text 16"/>
          <p:cNvSpPr txBox="1"/>
          <p:nvPr/>
        </p:nvSpPr>
        <p:spPr>
          <a:xfrm>
            <a:off x="6263640" y="2788920"/>
            <a:ext cx="2194560" cy="914400"/>
          </a:xfrm>
          <a:prstGeom prst="rect">
            <a:avLst/>
          </a:prstGeom>
          <a:noFill/>
          <a:ln/>
        </p:spPr>
        <p:txBody>
          <a:bodyPr wrap="square" lIns="0" tIns="0" rIns="0" bIns="0" rtlCol="0" anchor="t"/>
          <a:lstStyle/>
          <a:p>
            <a:pPr indent="0" marL="0">
              <a:buNone/>
            </a:pPr>
            <a:r>
              <a:rPr lang="en-US" sz="1200" dirty="0">
                <a:solidFill>
                  <a:srgbClr val="33443A"/>
                </a:solidFill>
              </a:rPr>
              <a:t>Who to visit, in which order, with which approved offer and what to say — ready 3 days before.</a:t>
            </a:r>
            <a:endParaRPr lang="en-US" sz="1200" dirty="0"/>
          </a:p>
        </p:txBody>
      </p:sp>
      <p:sp>
        <p:nvSpPr>
          <p:cNvPr id="19" name="Scope note"/>
          <p:cNvSpPr/>
          <p:nvPr/>
        </p:nvSpPr>
        <p:spPr>
          <a:xfrm>
            <a:off x="457200" y="3931920"/>
            <a:ext cx="8229600" cy="777240"/>
          </a:xfrm>
          <a:prstGeom prst="roundRect">
            <a:avLst>
              <a:gd name="adj" fmla="val 14118"/>
            </a:avLst>
          </a:prstGeom>
          <a:solidFill>
            <a:schemeClr val="bg2"/>
          </a:solidFill>
          <a:ln w="12700">
            <a:solidFill>
              <a:schemeClr val="bg2"/>
            </a:solidFill>
            <a:prstDash val="solid"/>
          </a:ln>
        </p:spPr>
      </p:sp>
      <p:sp>
        <p:nvSpPr>
          <p:cNvPr id="20" name="Text 18"/>
          <p:cNvSpPr txBox="1"/>
          <p:nvPr/>
        </p:nvSpPr>
        <p:spPr>
          <a:xfrm>
            <a:off x="640080" y="3959352"/>
            <a:ext cx="7863840" cy="722376"/>
          </a:xfrm>
          <a:prstGeom prst="rect">
            <a:avLst/>
          </a:prstGeom>
          <a:noFill/>
          <a:ln/>
        </p:spPr>
        <p:txBody>
          <a:bodyPr wrap="square" lIns="0" tIns="0" rIns="0" bIns="0" rtlCol="0" anchor="ctr"/>
          <a:lstStyle/>
          <a:p>
            <a:pPr indent="0" marL="0">
              <a:buNone/>
            </a:pPr>
            <a:r>
              <a:rPr lang="en-US" sz="1200" b="1" dirty="0">
                <a:solidFill>
                  <a:schemeClr val="tx2"/>
                </a:solidFill>
              </a:rPr>
              <a:t>Built to be used on the road. </a:t>
            </a:r>
            <a:pPr indent="0" marL="0">
              <a:buNone/>
            </a:pPr>
            <a:r>
              <a:rPr lang="en-US" sz="1200" dirty="0">
                <a:solidFill>
                  <a:schemeClr val="tx2"/>
                </a:solidFill>
              </a:rPr>
              <a:t>Drive mode shows only the next destination and the task; voice briefings and one-tap navigation keep eyes on the road. Accounts that don’t need the car get a Hoppy call or a care note.</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75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400" b="1" dirty="0">
                <a:solidFill>
                  <a:schemeClr val="tx1"/>
                </a:solidFill>
              </a:rPr>
              <a:t>2 · Watch the order rhythm, not the complaints</a:t>
            </a:r>
            <a:endParaRPr lang="en-US" sz="2400" dirty="0"/>
          </a:p>
        </p:txBody>
      </p:sp>
      <p:sp>
        <p:nvSpPr>
          <p:cNvPr id="3" name="Text 1"/>
          <p:cNvSpPr txBox="1"/>
          <p:nvPr/>
        </p:nvSpPr>
        <p:spPr>
          <a:xfrm>
            <a:off x="457200" y="896112"/>
            <a:ext cx="8229600" cy="320040"/>
          </a:xfrm>
          <a:prstGeom prst="rect">
            <a:avLst/>
          </a:prstGeom>
          <a:noFill/>
          <a:ln/>
        </p:spPr>
        <p:txBody>
          <a:bodyPr wrap="square" lIns="0" tIns="0" rIns="0" bIns="0" rtlCol="0" anchor="t"/>
          <a:lstStyle/>
          <a:p>
            <a:pPr indent="0" marL="0">
              <a:buNone/>
            </a:pPr>
            <a:r>
              <a:rPr lang="en-US" sz="1400" i="1" dirty="0">
                <a:solidFill>
                  <a:srgbClr val="66756B"/>
                </a:solidFill>
              </a:rPr>
              <a:t>Churn = an active account (≥5 orders) places no order in the next 90 days · back-test on 5,088 accounts</a:t>
            </a:r>
            <a:endParaRPr lang="en-US" sz="1400" dirty="0"/>
          </a:p>
        </p:txBody>
      </p:sp>
      <p:graphicFrame>
        <p:nvGraphicFramePr>
          <p:cNvPr id="4" name="Chart 0" descr=""/>
          <p:cNvGraphicFramePr/>
          <p:nvPr/>
        </p:nvGraphicFramePr>
        <p:xfrm>
          <a:off x="365760" y="1280160"/>
          <a:ext cx="4754880" cy="3429000"/>
        </p:xfrm>
        <a:graphic xmlns:a="http://schemas.openxmlformats.org/drawingml/2006/main">
          <a:graphicData uri="http://schemas.openxmlformats.org/drawingml/2006/chart">
            <c:chart xmlns:c="http://schemas.openxmlformats.org/drawingml/2006/chart" r:id="rId1"/>
          </a:graphicData>
        </a:graphic>
      </p:graphicFrame>
      <p:sp>
        <p:nvSpPr>
          <p:cNvPr id="5" name="Insight 1"/>
          <p:cNvSpPr/>
          <p:nvPr/>
        </p:nvSpPr>
        <p:spPr>
          <a:xfrm>
            <a:off x="5303520" y="1280160"/>
            <a:ext cx="3383280" cy="932688"/>
          </a:xfrm>
          <a:prstGeom prst="roundRect">
            <a:avLst>
              <a:gd name="adj" fmla="val 11765"/>
            </a:avLst>
          </a:prstGeom>
          <a:solidFill>
            <a:srgbClr val="F3F8F2"/>
          </a:solidFill>
          <a:ln w="12700">
            <a:solidFill>
              <a:srgbClr val="F3F8F2"/>
            </a:solidFill>
            <a:prstDash val="solid"/>
          </a:ln>
        </p:spPr>
      </p:sp>
      <p:sp>
        <p:nvSpPr>
          <p:cNvPr id="6" name="Text 3"/>
          <p:cNvSpPr txBox="1"/>
          <p:nvPr/>
        </p:nvSpPr>
        <p:spPr>
          <a:xfrm>
            <a:off x="5440680" y="1325880"/>
            <a:ext cx="3108960" cy="859536"/>
          </a:xfrm>
          <a:prstGeom prst="rect">
            <a:avLst/>
          </a:prstGeom>
          <a:noFill/>
          <a:ln/>
        </p:spPr>
        <p:txBody>
          <a:bodyPr wrap="square" lIns="0" tIns="0" rIns="0" bIns="0" rtlCol="0" anchor="t"/>
          <a:lstStyle/>
          <a:p>
            <a:pPr indent="0" marL="0">
              <a:buNone/>
            </a:pPr>
            <a:r>
              <a:rPr lang="en-US" sz="1050" b="1" dirty="0">
                <a:solidFill>
                  <a:srgbClr val="66756B"/>
                </a:solidFill>
              </a:rPr>
              <a:t>We assumed: </a:t>
            </a:r>
            <a:pPr indent="0" marL="0">
              <a:buNone/>
            </a:pPr>
            <a:r>
              <a:rPr lang="en-US" sz="1050" i="1" dirty="0">
                <a:solidFill>
                  <a:schemeClr val="tx1"/>
                </a:solidFill>
              </a:rPr>
              <a:t>Unhappy reviewers are the ones who leave.</a:t>
            </a:r>
            <a:endParaRPr lang="en-US" sz="1050" dirty="0"/>
          </a:p>
          <a:p>
            <a:pPr indent="0" marL="0">
              <a:buNone/>
            </a:pPr>
            <a:r>
              <a:rPr lang="en-US" sz="1050" b="1" dirty="0">
                <a:solidFill>
                  <a:srgbClr val="0B6B33"/>
                </a:solidFill>
              </a:rPr>
              <a:t>Data says: </a:t>
            </a:r>
            <a:pPr indent="0" marL="0">
              <a:buNone/>
            </a:pPr>
            <a:r>
              <a:rPr lang="en-US" sz="1050" dirty="0">
                <a:solidFill>
                  <a:schemeClr val="tx1"/>
                </a:solidFill>
              </a:rPr>
              <a:t>Complainers who keep ordering churn less than average (23.7% vs 28.5%). Silent decliners are the danger (37.1%).</a:t>
            </a:r>
            <a:endParaRPr lang="en-US" sz="1050" dirty="0"/>
          </a:p>
        </p:txBody>
      </p:sp>
      <p:sp>
        <p:nvSpPr>
          <p:cNvPr id="7" name="Insight 2"/>
          <p:cNvSpPr/>
          <p:nvPr/>
        </p:nvSpPr>
        <p:spPr>
          <a:xfrm>
            <a:off x="5303520" y="2304288"/>
            <a:ext cx="3383280" cy="932688"/>
          </a:xfrm>
          <a:prstGeom prst="roundRect">
            <a:avLst>
              <a:gd name="adj" fmla="val 11765"/>
            </a:avLst>
          </a:prstGeom>
          <a:solidFill>
            <a:srgbClr val="F3F8F2"/>
          </a:solidFill>
          <a:ln w="12700">
            <a:solidFill>
              <a:srgbClr val="F3F8F2"/>
            </a:solidFill>
            <a:prstDash val="solid"/>
          </a:ln>
        </p:spPr>
      </p:sp>
      <p:sp>
        <p:nvSpPr>
          <p:cNvPr id="8" name="Text 5"/>
          <p:cNvSpPr txBox="1"/>
          <p:nvPr/>
        </p:nvSpPr>
        <p:spPr>
          <a:xfrm>
            <a:off x="5440680" y="2350008"/>
            <a:ext cx="3108960" cy="859536"/>
          </a:xfrm>
          <a:prstGeom prst="rect">
            <a:avLst/>
          </a:prstGeom>
          <a:noFill/>
          <a:ln/>
        </p:spPr>
        <p:txBody>
          <a:bodyPr wrap="square" lIns="0" tIns="0" rIns="0" bIns="0" rtlCol="0" anchor="t"/>
          <a:lstStyle/>
          <a:p>
            <a:pPr indent="0" marL="0">
              <a:buNone/>
            </a:pPr>
            <a:r>
              <a:rPr lang="en-US" sz="1050" b="1" dirty="0">
                <a:solidFill>
                  <a:srgbClr val="66756B"/>
                </a:solidFill>
              </a:rPr>
              <a:t>We assumed: </a:t>
            </a:r>
            <a:pPr indent="0" marL="0">
              <a:buNone/>
            </a:pPr>
            <a:r>
              <a:rPr lang="en-US" sz="1050" i="1" dirty="0">
                <a:solidFill>
                  <a:schemeClr val="tx1"/>
                </a:solidFill>
              </a:rPr>
              <a:t>A low month means risk.</a:t>
            </a:r>
            <a:endParaRPr lang="en-US" sz="1050" dirty="0"/>
          </a:p>
          <a:p>
            <a:pPr indent="0" marL="0">
              <a:buNone/>
            </a:pPr>
            <a:r>
              <a:rPr lang="en-US" sz="1050" b="1" dirty="0">
                <a:solidFill>
                  <a:srgbClr val="0B6B33"/>
                </a:solidFill>
              </a:rPr>
              <a:t>Data says: </a:t>
            </a:r>
            <a:pPr indent="0" marL="0">
              <a:buNone/>
            </a:pPr>
            <a:r>
              <a:rPr lang="en-US" sz="1050" dirty="0">
                <a:solidFill>
                  <a:schemeClr val="tx1"/>
                </a:solidFill>
              </a:rPr>
              <a:t>Only a break from the account’s own rhythm matters: ≥2× its usual gap → 39% churn.</a:t>
            </a:r>
            <a:endParaRPr lang="en-US" sz="1050" dirty="0"/>
          </a:p>
        </p:txBody>
      </p:sp>
      <p:sp>
        <p:nvSpPr>
          <p:cNvPr id="9" name="Validation"/>
          <p:cNvSpPr/>
          <p:nvPr/>
        </p:nvSpPr>
        <p:spPr>
          <a:xfrm>
            <a:off x="5303520" y="3364992"/>
            <a:ext cx="3383280" cy="1344168"/>
          </a:xfrm>
          <a:prstGeom prst="roundRect">
            <a:avLst>
              <a:gd name="adj" fmla="val 8163"/>
            </a:avLst>
          </a:prstGeom>
          <a:solidFill>
            <a:schemeClr val="bg2"/>
          </a:solidFill>
          <a:ln w="12700">
            <a:solidFill>
              <a:schemeClr val="bg2"/>
            </a:solidFill>
            <a:prstDash val="solid"/>
          </a:ln>
        </p:spPr>
      </p:sp>
      <p:sp>
        <p:nvSpPr>
          <p:cNvPr id="10" name="Text 7"/>
          <p:cNvSpPr txBox="1"/>
          <p:nvPr/>
        </p:nvSpPr>
        <p:spPr>
          <a:xfrm>
            <a:off x="5440680" y="3410712"/>
            <a:ext cx="3108960" cy="1261872"/>
          </a:xfrm>
          <a:prstGeom prst="rect">
            <a:avLst/>
          </a:prstGeom>
          <a:noFill/>
          <a:ln/>
        </p:spPr>
        <p:txBody>
          <a:bodyPr wrap="square" lIns="0" tIns="0" rIns="0" bIns="0" rtlCol="0" anchor="t"/>
          <a:lstStyle/>
          <a:p>
            <a:pPr indent="0" marL="0">
              <a:buNone/>
            </a:pPr>
            <a:r>
              <a:rPr lang="en-US" sz="1050" b="1" dirty="0">
                <a:solidFill>
                  <a:schemeClr val="tx2"/>
                </a:solidFill>
              </a:rPr>
              <a:t>Tested on months it never saw</a:t>
            </a:r>
            <a:endParaRPr lang="en-US" sz="1050" dirty="0"/>
          </a:p>
          <a:p>
            <a:pPr indent="0" marL="0">
              <a:buNone/>
            </a:pPr>
            <a:r>
              <a:rPr lang="en-US" sz="1050" dirty="0">
                <a:solidFill>
                  <a:schemeClr val="tx2"/>
                </a:solidFill>
              </a:rPr>
              <a:t>Trained to Feb 2018, predicted Jun–Aug: AUC 0.72; top 10% → 57% really churned. </a:t>
            </a:r>
            <a:endParaRPr lang="en-US" sz="1050" dirty="0"/>
          </a:p>
          <a:p>
            <a:pPr indent="0" marL="0">
              <a:buNone/>
            </a:pPr>
            <a:r>
              <a:rPr lang="en-US" sz="1050" i="1" dirty="0">
                <a:solidFill>
                  <a:schemeClr val="tx2"/>
                </a:solidFill>
              </a:rPr>
              <a:t>The 90-day definition fits today’s data. With more data we will map the full paths accounts take to churn, and re-weight monthly.</a:t>
            </a:r>
            <a:endParaRPr lang="en-US" sz="105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75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400" b="1" dirty="0">
                <a:solidFill>
                  <a:schemeClr val="tx1"/>
                </a:solidFill>
              </a:rPr>
              <a:t>3 · Who gets a visit, and when Hoppy plans it</a:t>
            </a:r>
            <a:endParaRPr lang="en-US" sz="2400" dirty="0"/>
          </a:p>
        </p:txBody>
      </p:sp>
      <p:sp>
        <p:nvSpPr>
          <p:cNvPr id="3" name="Text 1"/>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300" b="1" dirty="0">
                <a:solidFill>
                  <a:schemeClr val="tx2"/>
                </a:solidFill>
              </a:rPr>
              <a:t>Priority = P(churn) × last-12-month spend · only while saveable (last order ≤ 120 days)</a:t>
            </a:r>
            <a:endParaRPr lang="en-US" sz="1300" dirty="0"/>
          </a:p>
        </p:txBody>
      </p:sp>
      <p:graphicFrame>
        <p:nvGraphicFramePr>
          <p:cNvPr id="5" name="Tier table"/>
          <p:cNvGraphicFramePr>
            <a:graphicFrameLocks noGrp="1"/>
          </p:cNvGraphicFramePr>
          <p:nvPr>
            <p:extLst>
              <p:ext uri="{D42A27DB-BD31-4B8C-83A1-F6EECF244321}">
                <p14:modId xmlns:p14="http://schemas.microsoft.com/office/powerpoint/2010/main" val="1579011935"/>
              </p:ext>
            </p:extLst>
          </p:nvPr>
        </p:nvGraphicFramePr>
        <p:xfrm>
          <a:off x="457200" y="1234440"/>
          <a:ext cx="4846320" cy="914400"/>
        </p:xfrm>
        <a:graphic>
          <a:graphicData uri="http://schemas.openxmlformats.org/drawingml/2006/table">
            <a:tbl>
              <a:tblPr/>
              <a:tblGrid>
                <a:gridCol w="868680"/>
                <a:gridCol w="1234440"/>
                <a:gridCol w="1325880"/>
                <a:gridCol w="411480"/>
                <a:gridCol w="1005840"/>
              </a:tblGrid>
              <a:tr h="365760">
                <a:tc>
                  <a:txBody>
                    <a:bodyPr/>
                    <a:lstStyle/>
                    <a:p>
                      <a:pPr indent="0" marL="0">
                        <a:buNone/>
                      </a:pPr>
                      <a:r>
                        <a:rPr lang="en-US" sz="1050" b="1" dirty="0">
                          <a:solidFill>
                            <a:srgbClr val="1D2B22"/>
                          </a:solidFill>
                        </a:rPr>
                        <a:t>Channel</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indent="0" marL="0">
                        <a:buNone/>
                      </a:pPr>
                      <a:r>
                        <a:rPr lang="en-US" sz="1050" b="1" dirty="0">
                          <a:solidFill>
                            <a:srgbClr val="1D2B22"/>
                          </a:solidFill>
                        </a:rPr>
                        <a:t>Priority</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indent="0" marL="0">
                        <a:buNone/>
                      </a:pPr>
                      <a:r>
                        <a:rPr lang="en-US" sz="1050" b="1" dirty="0">
                          <a:solidFill>
                            <a:srgbClr val="1D2B22"/>
                          </a:solidFill>
                        </a:rPr>
                        <a:t>Rule</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algn="ctr" indent="0" marL="0">
                        <a:buNone/>
                      </a:pPr>
                      <a:r>
                        <a:rPr lang="en-US" sz="1050" b="1" dirty="0">
                          <a:solidFill>
                            <a:srgbClr val="1D2B22"/>
                          </a:solidFill>
                        </a:rPr>
                        <a:t>#</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indent="0" marL="0">
                        <a:buNone/>
                      </a:pPr>
                      <a:r>
                        <a:rPr lang="en-US" sz="1050" b="1" dirty="0">
                          <a:solidFill>
                            <a:srgbClr val="1D2B22"/>
                          </a:solidFill>
                        </a:rPr>
                        <a:t>Action</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r>
              <a:tr h="365760">
                <a:tc rowSpan="2">
                  <a:txBody>
                    <a:bodyPr/>
                    <a:lstStyle/>
                    <a:p>
                      <a:pPr indent="0" marL="0">
                        <a:buNone/>
                      </a:pPr>
                      <a:r>
                        <a:rPr lang="en-US" sz="1050" b="1" dirty="0">
                          <a:solidFill>
                            <a:srgbClr val="1D2B22"/>
                          </a:solidFill>
                        </a:rPr>
                        <a:t>🚗 Rep visit</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3F8F2"/>
                    </a:solidFill>
                  </a:tcPr>
                </a:tc>
                <a:tc>
                  <a:txBody>
                    <a:bodyPr/>
                    <a:lstStyle/>
                    <a:p>
                      <a:pPr indent="0" marL="0">
                        <a:buNone/>
                      </a:pPr>
                      <a:r>
                        <a:rPr lang="en-US" sz="1050" b="1" dirty="0">
                          <a:solidFill>
                            <a:srgbClr val="1D2B22"/>
                          </a:solidFill>
                        </a:rPr>
                        <a:t>P1 · visit now</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E6E6"/>
                    </a:solidFill>
                  </a:tcPr>
                </a:tc>
                <a:tc>
                  <a:txBody>
                    <a:bodyPr/>
                    <a:lstStyle/>
                    <a:p>
                      <a:pPr indent="0" marL="0">
                        <a:buNone/>
                      </a:pPr>
                      <a:r>
                        <a:rPr lang="en-US" sz="1050" dirty="0">
                          <a:solidFill>
                            <a:srgbClr val="1D2B22"/>
                          </a:solidFill>
                        </a:rPr>
                        <a:t>Top 40 by priority</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2B22"/>
                          </a:solidFill>
                        </a:rPr>
                        <a:t>40</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indent="0" marL="0">
                        <a:buNone/>
                      </a:pPr>
                      <a:r>
                        <a:rPr lang="en-US" sz="1050" dirty="0">
                          <a:solidFill>
                            <a:srgbClr val="1D2B22"/>
                          </a:solidFill>
                        </a:rPr>
                        <a:t>Visit + offer</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r>
              <a:tr h="365760">
                <a:tc vMerge="1">
                  <a:tcPr/>
                </a:tc>
                <a:tc>
                  <a:txBody>
                    <a:bodyPr/>
                    <a:lstStyle/>
                    <a:p>
                      <a:pPr indent="0" marL="0">
                        <a:buNone/>
                      </a:pPr>
                      <a:r>
                        <a:rPr lang="en-US" sz="1050" b="1" dirty="0">
                          <a:solidFill>
                            <a:srgbClr val="1D2B22"/>
                          </a:solidFill>
                        </a:rPr>
                        <a:t>P2 · this week</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0E0"/>
                    </a:solidFill>
                  </a:tcPr>
                </a:tc>
                <a:tc>
                  <a:txBody>
                    <a:bodyPr/>
                    <a:lstStyle/>
                    <a:p>
                      <a:pPr indent="0" marL="0">
                        <a:buNone/>
                      </a:pPr>
                      <a:r>
                        <a:rPr lang="en-US" sz="1050" dirty="0">
                          <a:solidFill>
                            <a:srgbClr val="1D2B22"/>
                          </a:solidFill>
                        </a:rPr>
                        <a:t>Next 80</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2B22"/>
                          </a:solidFill>
                        </a:rPr>
                        <a:t>80</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indent="0" marL="0">
                        <a:buNone/>
                      </a:pPr>
                      <a:r>
                        <a:rPr lang="en-US" sz="1050" dirty="0">
                          <a:solidFill>
                            <a:srgbClr val="1D2B22"/>
                          </a:solidFill>
                        </a:rPr>
                        <a:t>Visit if on route</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r>
              <a:tr h="365760">
                <a:tc rowSpan="3">
                  <a:txBody>
                    <a:bodyPr/>
                    <a:lstStyle/>
                    <a:p>
                      <a:pPr indent="0" marL="0">
                        <a:buNone/>
                      </a:pPr>
                      <a:r>
                        <a:rPr lang="en-US" sz="1050" b="1" dirty="0">
                          <a:solidFill>
                            <a:srgbClr val="1D2B22"/>
                          </a:solidFill>
                        </a:rPr>
                        <a:t>🤖 Hoppy, remote</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3F8F2"/>
                    </a:solidFill>
                  </a:tcPr>
                </a:tc>
                <a:tc>
                  <a:txBody>
                    <a:bodyPr/>
                    <a:lstStyle/>
                    <a:p>
                      <a:pPr indent="0" marL="0">
                        <a:buNone/>
                      </a:pPr>
                      <a:r>
                        <a:rPr lang="en-US" sz="1050" b="1" dirty="0">
                          <a:solidFill>
                            <a:srgbClr val="1D2B22"/>
                          </a:solidFill>
                        </a:rPr>
                        <a:t>P3 · win-back call</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1EBFF"/>
                    </a:solidFill>
                  </a:tcPr>
                </a:tc>
                <a:tc>
                  <a:txBody>
                    <a:bodyPr/>
                    <a:lstStyle/>
                    <a:p>
                      <a:pPr indent="0" marL="0">
                        <a:buNone/>
                      </a:pPr>
                      <a:r>
                        <a:rPr lang="en-US" sz="1050" dirty="0">
                          <a:solidFill>
                            <a:srgbClr val="1D2B22"/>
                          </a:solidFill>
                        </a:rPr>
                        <a:t>Silent &gt; 120 days</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2B22"/>
                          </a:solidFill>
                        </a:rPr>
                        <a:t>101</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indent="0" marL="0">
                        <a:buNone/>
                      </a:pPr>
                      <a:r>
                        <a:rPr lang="en-US" sz="1050" dirty="0">
                          <a:solidFill>
                            <a:srgbClr val="1D2B22"/>
                          </a:solidFill>
                        </a:rPr>
                        <a:t>AI call + offer</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r>
              <a:tr h="365760">
                <a:tc vMerge="1">
                  <a:tcPr/>
                </a:tc>
                <a:tc>
                  <a:txBody>
                    <a:bodyPr/>
                    <a:lstStyle/>
                    <a:p>
                      <a:pPr indent="0" marL="0">
                        <a:buNone/>
                      </a:pPr>
                      <a:r>
                        <a:rPr lang="en-US" sz="1050" b="1" dirty="0">
                          <a:solidFill>
                            <a:srgbClr val="1D2B22"/>
                          </a:solidFill>
                        </a:rPr>
                        <a:t>P4 · care note</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E8F3"/>
                    </a:solidFill>
                  </a:tcPr>
                </a:tc>
                <a:tc>
                  <a:txBody>
                    <a:bodyPr/>
                    <a:lstStyle/>
                    <a:p>
                      <a:pPr indent="0" marL="0">
                        <a:buNone/>
                      </a:pPr>
                      <a:r>
                        <a:rPr lang="en-US" sz="1050" dirty="0">
                          <a:solidFill>
                            <a:srgbClr val="1D2B22"/>
                          </a:solidFill>
                        </a:rPr>
                        <a:t>Complained, stable orders</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2B22"/>
                          </a:solidFill>
                        </a:rPr>
                        <a:t>197</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indent="0" marL="0">
                        <a:buNone/>
                      </a:pPr>
                      <a:r>
                        <a:rPr lang="en-US" sz="1050" dirty="0">
                          <a:solidFill>
                            <a:srgbClr val="1D2B22"/>
                          </a:solidFill>
                        </a:rPr>
                        <a:t>Note + small gift</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r>
              <a:tr h="365760">
                <a:tc vMerge="1">
                  <a:tcPr/>
                </a:tc>
                <a:tc>
                  <a:txBody>
                    <a:bodyPr/>
                    <a:lstStyle/>
                    <a:p>
                      <a:pPr indent="0" marL="0">
                        <a:buNone/>
                      </a:pPr>
                      <a:r>
                        <a:rPr lang="en-US" sz="1050" b="1" dirty="0">
                          <a:solidFill>
                            <a:srgbClr val="1D2B22"/>
                          </a:solidFill>
                        </a:rPr>
                        <a:t>P5 · monitor</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7D6"/>
                    </a:solidFill>
                  </a:tcPr>
                </a:tc>
                <a:tc>
                  <a:txBody>
                    <a:bodyPr/>
                    <a:lstStyle/>
                    <a:p>
                      <a:pPr indent="0" marL="0">
                        <a:buNone/>
                      </a:pPr>
                      <a:r>
                        <a:rPr lang="en-US" sz="1050" dirty="0">
                          <a:solidFill>
                            <a:srgbClr val="1D2B22"/>
                          </a:solidFill>
                        </a:rPr>
                        <a:t>Everything else</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2B22"/>
                          </a:solidFill>
                        </a:rPr>
                        <a:t>682</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indent="0" marL="0">
                        <a:buNone/>
                      </a:pPr>
                      <a:r>
                        <a:rPr lang="en-US" sz="1050" dirty="0">
                          <a:solidFill>
                            <a:srgbClr val="1D2B22"/>
                          </a:solidFill>
                        </a:rPr>
                        <a:t>Re-score weekly</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3593592"/>
            <a:ext cx="4846320" cy="347472"/>
          </a:xfrm>
          <a:prstGeom prst="rect">
            <a:avLst/>
          </a:prstGeom>
          <a:noFill/>
          <a:ln/>
        </p:spPr>
        <p:txBody>
          <a:bodyPr wrap="square" lIns="0" tIns="0" rIns="0" bIns="0" rtlCol="0" anchor="t"/>
          <a:lstStyle/>
          <a:p>
            <a:pPr indent="0" marL="0">
              <a:buNone/>
            </a:pPr>
            <a:r>
              <a:rPr lang="en-US" sz="1000" b="1" dirty="0">
                <a:solidFill>
                  <a:schemeClr val="tx2"/>
                </a:solidFill>
              </a:rPr>
              <a:t>🗺️ Route: </a:t>
            </a:r>
            <a:pPr indent="0" marL="0">
              <a:buNone/>
            </a:pPr>
            <a:r>
              <a:rPr lang="en-US" sz="1000" dirty="0">
                <a:solidFill>
                  <a:schemeClr val="tx2"/>
                </a:solidFill>
              </a:rPr>
              <a:t>P1 always before P2; inside each group nearest-first + 2-opt. Demo day: 42.5 km vs 57.0 km in risk order (−26%).</a:t>
            </a:r>
            <a:endParaRPr lang="en-US" sz="1000" dirty="0"/>
          </a:p>
        </p:txBody>
      </p:sp>
      <p:sp>
        <p:nvSpPr>
          <p:cNvPr id="6" name="Timeline card"/>
          <p:cNvSpPr/>
          <p:nvPr/>
        </p:nvSpPr>
        <p:spPr>
          <a:xfrm>
            <a:off x="5532120" y="1234440"/>
            <a:ext cx="3154680" cy="3429000"/>
          </a:xfrm>
          <a:prstGeom prst="roundRect">
            <a:avLst>
              <a:gd name="adj" fmla="val 3478"/>
            </a:avLst>
          </a:prstGeom>
          <a:solidFill>
            <a:srgbClr val="F3F8F2"/>
          </a:solidFill>
          <a:ln w="12700">
            <a:solidFill>
              <a:srgbClr val="F3F8F2"/>
            </a:solidFill>
            <a:prstDash val="solid"/>
          </a:ln>
        </p:spPr>
      </p:sp>
      <p:sp>
        <p:nvSpPr>
          <p:cNvPr id="7" name="Text 4"/>
          <p:cNvSpPr txBox="1"/>
          <p:nvPr/>
        </p:nvSpPr>
        <p:spPr>
          <a:xfrm>
            <a:off x="5669280" y="1325880"/>
            <a:ext cx="2880360" cy="457200"/>
          </a:xfrm>
          <a:prstGeom prst="rect">
            <a:avLst/>
          </a:prstGeom>
          <a:noFill/>
          <a:ln/>
        </p:spPr>
        <p:txBody>
          <a:bodyPr wrap="square" lIns="0" tIns="0" rIns="0" bIns="0" rtlCol="0" anchor="t"/>
          <a:lstStyle/>
          <a:p>
            <a:pPr indent="0" marL="0">
              <a:buNone/>
            </a:pPr>
            <a:r>
              <a:rPr lang="en-US" sz="1300" b="1" dirty="0">
                <a:solidFill>
                  <a:schemeClr val="tx1"/>
                </a:solidFill>
              </a:rPr>
              <a:t>Planned 3 days ahead so approvals arrive in time</a:t>
            </a:r>
            <a:endParaRPr lang="en-US" sz="1300" dirty="0"/>
          </a:p>
        </p:txBody>
      </p:sp>
      <p:sp>
        <p:nvSpPr>
          <p:cNvPr id="8" name="TL T-3"/>
          <p:cNvSpPr/>
          <p:nvPr/>
        </p:nvSpPr>
        <p:spPr>
          <a:xfrm>
            <a:off x="5669280" y="1874520"/>
            <a:ext cx="457200" cy="457200"/>
          </a:xfrm>
          <a:prstGeom prst="ellipse">
            <a:avLst/>
          </a:prstGeom>
          <a:solidFill>
            <a:schemeClr val="accent1"/>
          </a:solidFill>
          <a:ln w="12700">
            <a:solidFill>
              <a:schemeClr val="accent1"/>
            </a:solidFill>
            <a:prstDash val="solid"/>
          </a:ln>
        </p:spPr>
      </p:sp>
      <p:sp>
        <p:nvSpPr>
          <p:cNvPr id="9" name="Text 6"/>
          <p:cNvSpPr txBox="1"/>
          <p:nvPr/>
        </p:nvSpPr>
        <p:spPr>
          <a:xfrm>
            <a:off x="5669280" y="1874520"/>
            <a:ext cx="457200" cy="457200"/>
          </a:xfrm>
          <a:prstGeom prst="rect">
            <a:avLst/>
          </a:prstGeom>
          <a:noFill/>
          <a:ln/>
        </p:spPr>
        <p:txBody>
          <a:bodyPr wrap="square" lIns="0" tIns="0" rIns="0" bIns="0" rtlCol="0" anchor="ctr"/>
          <a:lstStyle/>
          <a:p>
            <a:pPr algn="ctr" indent="0" marL="0">
              <a:buNone/>
            </a:pPr>
            <a:r>
              <a:rPr lang="en-US" sz="1000" b="1" dirty="0">
                <a:solidFill>
                  <a:schemeClr val="bg1"/>
                </a:solidFill>
              </a:rPr>
              <a:t>T-3</a:t>
            </a:r>
            <a:endParaRPr lang="en-US" sz="1000" dirty="0"/>
          </a:p>
        </p:txBody>
      </p:sp>
      <p:sp>
        <p:nvSpPr>
          <p:cNvPr id="10" name="Text 7"/>
          <p:cNvSpPr txBox="1"/>
          <p:nvPr/>
        </p:nvSpPr>
        <p:spPr>
          <a:xfrm>
            <a:off x="6217920" y="1874520"/>
            <a:ext cx="2377440" cy="457200"/>
          </a:xfrm>
          <a:prstGeom prst="rect">
            <a:avLst/>
          </a:prstGeom>
          <a:noFill/>
          <a:ln/>
        </p:spPr>
        <p:txBody>
          <a:bodyPr wrap="square" lIns="0" tIns="0" rIns="0" bIns="0" rtlCol="0" anchor="ctr"/>
          <a:lstStyle/>
          <a:p>
            <a:pPr indent="0" marL="0">
              <a:buNone/>
            </a:pPr>
            <a:r>
              <a:rPr lang="en-US" sz="1100" dirty="0">
                <a:solidFill>
                  <a:srgbClr val="33443A"/>
                </a:solidFill>
              </a:rPr>
              <a:t>Hoppy proposes visits + best offer per account</a:t>
            </a:r>
            <a:endParaRPr lang="en-US" sz="1100" dirty="0"/>
          </a:p>
        </p:txBody>
      </p:sp>
      <p:sp>
        <p:nvSpPr>
          <p:cNvPr id="11" name="TL T-2"/>
          <p:cNvSpPr/>
          <p:nvPr/>
        </p:nvSpPr>
        <p:spPr>
          <a:xfrm>
            <a:off x="5669280" y="2441448"/>
            <a:ext cx="457200" cy="457200"/>
          </a:xfrm>
          <a:prstGeom prst="ellipse">
            <a:avLst/>
          </a:prstGeom>
          <a:solidFill>
            <a:schemeClr val="accent3"/>
          </a:solidFill>
          <a:ln w="12700">
            <a:solidFill>
              <a:schemeClr val="accent3"/>
            </a:solidFill>
            <a:prstDash val="solid"/>
          </a:ln>
        </p:spPr>
      </p:sp>
      <p:sp>
        <p:nvSpPr>
          <p:cNvPr id="12" name="Text 9"/>
          <p:cNvSpPr txBox="1"/>
          <p:nvPr/>
        </p:nvSpPr>
        <p:spPr>
          <a:xfrm>
            <a:off x="5669280" y="2441448"/>
            <a:ext cx="457200" cy="457200"/>
          </a:xfrm>
          <a:prstGeom prst="rect">
            <a:avLst/>
          </a:prstGeom>
          <a:noFill/>
          <a:ln/>
        </p:spPr>
        <p:txBody>
          <a:bodyPr wrap="square" lIns="0" tIns="0" rIns="0" bIns="0" rtlCol="0" anchor="ctr"/>
          <a:lstStyle/>
          <a:p>
            <a:pPr algn="ctr" indent="0" marL="0">
              <a:buNone/>
            </a:pPr>
            <a:r>
              <a:rPr lang="en-US" sz="1000" b="1" dirty="0">
                <a:solidFill>
                  <a:schemeClr val="bg1"/>
                </a:solidFill>
              </a:rPr>
              <a:t>T-2</a:t>
            </a:r>
            <a:endParaRPr lang="en-US" sz="1000" dirty="0"/>
          </a:p>
        </p:txBody>
      </p:sp>
      <p:sp>
        <p:nvSpPr>
          <p:cNvPr id="13" name="Text 10"/>
          <p:cNvSpPr txBox="1"/>
          <p:nvPr/>
        </p:nvSpPr>
        <p:spPr>
          <a:xfrm>
            <a:off x="6217920" y="2441448"/>
            <a:ext cx="2377440" cy="457200"/>
          </a:xfrm>
          <a:prstGeom prst="rect">
            <a:avLst/>
          </a:prstGeom>
          <a:noFill/>
          <a:ln/>
        </p:spPr>
        <p:txBody>
          <a:bodyPr wrap="square" lIns="0" tIns="0" rIns="0" bIns="0" rtlCol="0" anchor="ctr"/>
          <a:lstStyle/>
          <a:p>
            <a:pPr indent="0" marL="0">
              <a:buNone/>
            </a:pPr>
            <a:r>
              <a:rPr lang="en-US" sz="1100" dirty="0">
                <a:solidFill>
                  <a:srgbClr val="33443A"/>
                </a:solidFill>
              </a:rPr>
              <a:t>Rep confirms; GM-level offers submitted</a:t>
            </a:r>
            <a:endParaRPr lang="en-US" sz="1100" dirty="0"/>
          </a:p>
        </p:txBody>
      </p:sp>
      <p:sp>
        <p:nvSpPr>
          <p:cNvPr id="14" name="TL T-1"/>
          <p:cNvSpPr/>
          <p:nvPr/>
        </p:nvSpPr>
        <p:spPr>
          <a:xfrm>
            <a:off x="5669280" y="3008376"/>
            <a:ext cx="457200" cy="457200"/>
          </a:xfrm>
          <a:prstGeom prst="ellipse">
            <a:avLst/>
          </a:prstGeom>
          <a:solidFill>
            <a:schemeClr val="accent5"/>
          </a:solidFill>
          <a:ln w="12700">
            <a:solidFill>
              <a:schemeClr val="accent5"/>
            </a:solidFill>
            <a:prstDash val="solid"/>
          </a:ln>
        </p:spPr>
      </p:sp>
      <p:sp>
        <p:nvSpPr>
          <p:cNvPr id="15" name="Text 12"/>
          <p:cNvSpPr txBox="1"/>
          <p:nvPr/>
        </p:nvSpPr>
        <p:spPr>
          <a:xfrm>
            <a:off x="5669280" y="3008376"/>
            <a:ext cx="457200" cy="457200"/>
          </a:xfrm>
          <a:prstGeom prst="rect">
            <a:avLst/>
          </a:prstGeom>
          <a:noFill/>
          <a:ln/>
        </p:spPr>
        <p:txBody>
          <a:bodyPr wrap="square" lIns="0" tIns="0" rIns="0" bIns="0" rtlCol="0" anchor="ctr"/>
          <a:lstStyle/>
          <a:p>
            <a:pPr algn="ctr" indent="0" marL="0">
              <a:buNone/>
            </a:pPr>
            <a:r>
              <a:rPr lang="en-US" sz="1000" b="1" dirty="0">
                <a:solidFill>
                  <a:schemeClr val="bg1"/>
                </a:solidFill>
              </a:rPr>
              <a:t>T-1</a:t>
            </a:r>
            <a:endParaRPr lang="en-US" sz="1000" dirty="0"/>
          </a:p>
        </p:txBody>
      </p:sp>
      <p:sp>
        <p:nvSpPr>
          <p:cNvPr id="16" name="Text 13"/>
          <p:cNvSpPr txBox="1"/>
          <p:nvPr/>
        </p:nvSpPr>
        <p:spPr>
          <a:xfrm>
            <a:off x="6217920" y="3008376"/>
            <a:ext cx="2377440" cy="457200"/>
          </a:xfrm>
          <a:prstGeom prst="rect">
            <a:avLst/>
          </a:prstGeom>
          <a:noFill/>
          <a:ln/>
        </p:spPr>
        <p:txBody>
          <a:bodyPr wrap="square" lIns="0" tIns="0" rIns="0" bIns="0" rtlCol="0" anchor="ctr"/>
          <a:lstStyle/>
          <a:p>
            <a:pPr indent="0" marL="0">
              <a:buNone/>
            </a:pPr>
            <a:r>
              <a:rPr lang="en-US" sz="1100" dirty="0">
                <a:solidFill>
                  <a:srgbClr val="33443A"/>
                </a:solidFill>
              </a:rPr>
              <a:t>Manager / GM approvals land</a:t>
            </a:r>
            <a:endParaRPr lang="en-US" sz="1100" dirty="0"/>
          </a:p>
        </p:txBody>
      </p:sp>
      <p:sp>
        <p:nvSpPr>
          <p:cNvPr id="17" name="TL Visit"/>
          <p:cNvSpPr/>
          <p:nvPr/>
        </p:nvSpPr>
        <p:spPr>
          <a:xfrm>
            <a:off x="5669280" y="3575304"/>
            <a:ext cx="457200" cy="457200"/>
          </a:xfrm>
          <a:prstGeom prst="ellipse">
            <a:avLst/>
          </a:prstGeom>
          <a:solidFill>
            <a:schemeClr val="accent2"/>
          </a:solidFill>
          <a:ln w="12700">
            <a:solidFill>
              <a:schemeClr val="accent2"/>
            </a:solidFill>
            <a:prstDash val="solid"/>
          </a:ln>
        </p:spPr>
      </p:sp>
      <p:sp>
        <p:nvSpPr>
          <p:cNvPr id="18" name="Text 15"/>
          <p:cNvSpPr txBox="1"/>
          <p:nvPr/>
        </p:nvSpPr>
        <p:spPr>
          <a:xfrm>
            <a:off x="5669280" y="3575304"/>
            <a:ext cx="457200" cy="457200"/>
          </a:xfrm>
          <a:prstGeom prst="rect">
            <a:avLst/>
          </a:prstGeom>
          <a:noFill/>
          <a:ln/>
        </p:spPr>
        <p:txBody>
          <a:bodyPr wrap="square" lIns="0" tIns="0" rIns="0" bIns="0" rtlCol="0" anchor="ctr"/>
          <a:lstStyle/>
          <a:p>
            <a:pPr algn="ctr" indent="0" marL="0">
              <a:buNone/>
            </a:pPr>
            <a:r>
              <a:rPr lang="en-US" sz="1000" b="1" dirty="0">
                <a:solidFill>
                  <a:schemeClr val="bg1"/>
                </a:solidFill>
              </a:rPr>
              <a:t>Visit</a:t>
            </a:r>
            <a:endParaRPr lang="en-US" sz="1000" dirty="0"/>
          </a:p>
        </p:txBody>
      </p:sp>
      <p:sp>
        <p:nvSpPr>
          <p:cNvPr id="19" name="Text 16"/>
          <p:cNvSpPr txBox="1"/>
          <p:nvPr/>
        </p:nvSpPr>
        <p:spPr>
          <a:xfrm>
            <a:off x="6217920" y="3575304"/>
            <a:ext cx="2377440" cy="457200"/>
          </a:xfrm>
          <a:prstGeom prst="rect">
            <a:avLst/>
          </a:prstGeom>
          <a:noFill/>
          <a:ln/>
        </p:spPr>
        <p:txBody>
          <a:bodyPr wrap="square" lIns="0" tIns="0" rIns="0" bIns="0" rtlCol="0" anchor="ctr"/>
          <a:lstStyle/>
          <a:p>
            <a:pPr indent="0" marL="0">
              <a:buNone/>
            </a:pPr>
            <a:r>
              <a:rPr lang="en-US" sz="1100" dirty="0">
                <a:solidFill>
                  <a:srgbClr val="33443A"/>
                </a:solidFill>
              </a:rPr>
              <a:t>Route, 30-sec audio briefing, talk track, log</a:t>
            </a:r>
            <a:endParaRPr lang="en-US" sz="1100" dirty="0"/>
          </a:p>
        </p:txBody>
      </p:sp>
      <p:sp>
        <p:nvSpPr>
          <p:cNvPr id="20" name="Text 17"/>
          <p:cNvSpPr txBox="1"/>
          <p:nvPr/>
        </p:nvSpPr>
        <p:spPr>
          <a:xfrm>
            <a:off x="5669280" y="4114800"/>
            <a:ext cx="2880360" cy="502920"/>
          </a:xfrm>
          <a:prstGeom prst="rect">
            <a:avLst/>
          </a:prstGeom>
          <a:noFill/>
          <a:ln/>
        </p:spPr>
        <p:txBody>
          <a:bodyPr wrap="square" lIns="0" tIns="0" rIns="0" bIns="0" rtlCol="0" anchor="t"/>
          <a:lstStyle/>
          <a:p>
            <a:pPr indent="0" marL="0">
              <a:buNone/>
            </a:pPr>
            <a:r>
              <a:rPr lang="en-US" sz="1000" b="1" dirty="0">
                <a:solidFill>
                  <a:schemeClr val="tx2"/>
                </a:solidFill>
              </a:rPr>
              <a:t>Approval time: Rep instant · Manager 1 day · GM 2 days</a:t>
            </a:r>
            <a:endParaRPr lang="en-US" sz="1000" dirty="0"/>
          </a:p>
          <a:p>
            <a:pPr indent="0" marL="0">
              <a:buNone/>
            </a:pPr>
            <a:r>
              <a:rPr lang="en-US" sz="1000" i="1" dirty="0">
                <a:solidFill>
                  <a:schemeClr val="tx2"/>
                </a:solidFill>
              </a:rPr>
              <a:t>Levels and permissions are simulated in the demo.</a:t>
            </a:r>
            <a:endParaRPr lang="en-US" sz="1000" dirty="0"/>
          </a:p>
        </p:txBody>
      </p:sp>
      <p:sp>
        <p:nvSpPr>
          <p:cNvPr id="21" name="Care note"/>
          <p:cNvSpPr/>
          <p:nvPr/>
        </p:nvSpPr>
        <p:spPr>
          <a:xfrm>
            <a:off x="457200" y="3977640"/>
            <a:ext cx="4846320" cy="685800"/>
          </a:xfrm>
          <a:prstGeom prst="roundRect">
            <a:avLst>
              <a:gd name="adj" fmla="val 16000"/>
            </a:avLst>
          </a:prstGeom>
          <a:solidFill>
            <a:schemeClr val="bg2"/>
          </a:solidFill>
          <a:ln w="12700">
            <a:solidFill>
              <a:schemeClr val="bg2"/>
            </a:solidFill>
            <a:prstDash val="solid"/>
          </a:ln>
        </p:spPr>
      </p:sp>
      <p:sp>
        <p:nvSpPr>
          <p:cNvPr id="22" name="Text 19"/>
          <p:cNvSpPr txBox="1"/>
          <p:nvPr/>
        </p:nvSpPr>
        <p:spPr>
          <a:xfrm>
            <a:off x="594360" y="4005072"/>
            <a:ext cx="4572000" cy="621792"/>
          </a:xfrm>
          <a:prstGeom prst="rect">
            <a:avLst/>
          </a:prstGeom>
          <a:noFill/>
          <a:ln/>
        </p:spPr>
        <p:txBody>
          <a:bodyPr wrap="square" lIns="0" tIns="0" rIns="0" bIns="0" rtlCol="0" anchor="ctr"/>
          <a:lstStyle/>
          <a:p>
            <a:pPr indent="0" marL="0">
              <a:buNone/>
            </a:pPr>
            <a:r>
              <a:rPr lang="en-US" sz="1100" dirty="0">
                <a:solidFill>
                  <a:schemeClr val="tx2"/>
                </a:solidFill>
              </a:rPr>
              <a:t>P4 is the small, inclusive gesture: complainers whose orders are stable get a personal note — not the rep’s time.</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756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400" b="1" dirty="0">
                <a:solidFill>
                  <a:schemeClr val="tx1"/>
                </a:solidFill>
              </a:rPr>
              <a:t>3 · Which offer: each option scored alone, best one wins</a:t>
            </a:r>
            <a:endParaRPr lang="en-US" sz="2400" dirty="0"/>
          </a:p>
        </p:txBody>
      </p:sp>
      <p:sp>
        <p:nvSpPr>
          <p:cNvPr id="3" name="Formula card"/>
          <p:cNvSpPr/>
          <p:nvPr/>
        </p:nvSpPr>
        <p:spPr>
          <a:xfrm>
            <a:off x="457200" y="914400"/>
            <a:ext cx="8229600" cy="502920"/>
          </a:xfrm>
          <a:prstGeom prst="roundRect">
            <a:avLst>
              <a:gd name="adj" fmla="val 21818"/>
            </a:avLst>
          </a:prstGeom>
          <a:solidFill>
            <a:schemeClr val="tx2"/>
          </a:solidFill>
          <a:ln w="12700">
            <a:solidFill>
              <a:schemeClr val="tx2"/>
            </a:solidFill>
            <a:prstDash val="solid"/>
          </a:ln>
        </p:spPr>
      </p:sp>
      <p:sp>
        <p:nvSpPr>
          <p:cNvPr id="4" name="Text 2"/>
          <p:cNvSpPr txBox="1"/>
          <p:nvPr/>
        </p:nvSpPr>
        <p:spPr>
          <a:xfrm>
            <a:off x="640080" y="914400"/>
            <a:ext cx="7863840" cy="502920"/>
          </a:xfrm>
          <a:prstGeom prst="rect">
            <a:avLst/>
          </a:prstGeom>
          <a:noFill/>
          <a:ln/>
        </p:spPr>
        <p:txBody>
          <a:bodyPr wrap="square" lIns="0" tIns="0" rIns="0" bIns="0" rtlCol="0" anchor="ctr"/>
          <a:lstStyle/>
          <a:p>
            <a:pPr algn="ctr" indent="0" marL="0">
              <a:buNone/>
            </a:pPr>
            <a:r>
              <a:rPr lang="en-US" sz="1500" b="1" dirty="0">
                <a:solidFill>
                  <a:schemeClr val="bg1"/>
                </a:solidFill>
              </a:rPr>
              <a:t>Expected profit = Revenue at risk × Save-lift × Margin (35%) − Offer cost</a:t>
            </a:r>
            <a:endParaRPr lang="en-US" sz="1500" dirty="0"/>
          </a:p>
        </p:txBody>
      </p:sp>
      <p:sp>
        <p:nvSpPr>
          <p:cNvPr id="5" name="Text 3"/>
          <p:cNvSpPr txBox="1"/>
          <p:nvPr/>
        </p:nvSpPr>
        <p:spPr>
          <a:xfrm>
            <a:off x="457200" y="1508760"/>
            <a:ext cx="8229600" cy="274320"/>
          </a:xfrm>
          <a:prstGeom prst="rect">
            <a:avLst/>
          </a:prstGeom>
          <a:noFill/>
          <a:ln/>
        </p:spPr>
        <p:txBody>
          <a:bodyPr wrap="square" lIns="0" tIns="0" rIns="0" bIns="0" rtlCol="0" anchor="t"/>
          <a:lstStyle/>
          <a:p>
            <a:pPr indent="0" marL="0">
              <a:buNone/>
            </a:pPr>
            <a:r>
              <a:rPr lang="en-US" sz="1200" i="1" dirty="0">
                <a:solidFill>
                  <a:srgbClr val="33443A"/>
                </a:solidFill>
              </a:rPr>
              <a:t>Example A01216: spend R$ 2,541/yr × churn risk 62% = R$ 1,575 revenue at risk (same for every option)</a:t>
            </a:r>
            <a:endParaRPr lang="en-US" sz="1200" dirty="0"/>
          </a:p>
        </p:txBody>
      </p:sp>
      <p:graphicFrame>
        <p:nvGraphicFramePr>
          <p:cNvPr id="6" name="Worked example table"/>
          <p:cNvGraphicFramePr>
            <a:graphicFrameLocks noGrp="1"/>
          </p:cNvGraphicFramePr>
          <p:nvPr>
            <p:extLst>
              <p:ext uri="{D42A27DB-BD31-4B8C-83A1-F6EECF244321}">
                <p14:modId xmlns:p14="http://schemas.microsoft.com/office/powerpoint/2010/main" val="1579011935"/>
              </p:ext>
            </p:extLst>
          </p:nvPr>
        </p:nvGraphicFramePr>
        <p:xfrm>
          <a:off x="457200" y="1828800"/>
          <a:ext cx="8229600" cy="914400"/>
        </p:xfrm>
        <a:graphic>
          <a:graphicData uri="http://schemas.openxmlformats.org/drawingml/2006/table">
            <a:tbl>
              <a:tblPr/>
              <a:tblGrid>
                <a:gridCol w="1143000"/>
                <a:gridCol w="2514600"/>
                <a:gridCol w="777240"/>
                <a:gridCol w="1005840"/>
                <a:gridCol w="960120"/>
                <a:gridCol w="868680"/>
                <a:gridCol w="960120"/>
              </a:tblGrid>
              <a:tr h="457200">
                <a:tc>
                  <a:txBody>
                    <a:bodyPr/>
                    <a:lstStyle/>
                    <a:p>
                      <a:pPr algn="ctr" indent="0" marL="0">
                        <a:buNone/>
                      </a:pPr>
                      <a:r>
                        <a:rPr lang="en-US" sz="1050" b="1" dirty="0">
                          <a:solidFill>
                            <a:srgbClr val="1D2B22"/>
                          </a:solidFill>
                        </a:rPr>
                        <a:t>Option (pick one)</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algn="ctr" indent="0" marL="0">
                        <a:buNone/>
                      </a:pPr>
                      <a:r>
                        <a:rPr lang="en-US" sz="1050" b="1" dirty="0">
                          <a:solidFill>
                            <a:srgbClr val="1D2B22"/>
                          </a:solidFill>
                        </a:rPr>
                        <a:t>Offer</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algn="ctr" indent="0" marL="0">
                        <a:buNone/>
                      </a:pPr>
                      <a:r>
                        <a:rPr lang="en-US" sz="1050" b="1" dirty="0">
                          <a:solidFill>
                            <a:srgbClr val="1D2B22"/>
                          </a:solidFill>
                        </a:rPr>
                        <a:t>① Save-lift</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algn="ctr" indent="0" marL="0">
                        <a:buNone/>
                      </a:pPr>
                      <a:r>
                        <a:rPr lang="en-US" sz="1050" b="1" dirty="0">
                          <a:solidFill>
                            <a:srgbClr val="1D2B22"/>
                          </a:solidFill>
                        </a:rPr>
                        <a:t>② Revenue kept</a:t>
                      </a:r>
                      <a:endParaRPr lang="en-US" sz="1050" dirty="0"/>
                    </a:p>
                    <a:p>
                      <a:pPr algn="ctr" indent="0" marL="0">
                        <a:buNone/>
                      </a:pPr>
                      <a:r>
                        <a:rPr lang="en-US" sz="1050" b="1" dirty="0">
                          <a:solidFill>
                            <a:srgbClr val="1D2B22"/>
                          </a:solidFill>
                        </a:rPr>
                        <a:t>1,575 × ①</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algn="ctr" indent="0" marL="0">
                        <a:buNone/>
                      </a:pPr>
                      <a:r>
                        <a:rPr lang="en-US" sz="1050" b="1" dirty="0">
                          <a:solidFill>
                            <a:srgbClr val="1D2B22"/>
                          </a:solidFill>
                        </a:rPr>
                        <a:t>③ Profit kept</a:t>
                      </a:r>
                      <a:endParaRPr lang="en-US" sz="1050" dirty="0"/>
                    </a:p>
                    <a:p>
                      <a:pPr algn="ctr" indent="0" marL="0">
                        <a:buNone/>
                      </a:pPr>
                      <a:r>
                        <a:rPr lang="en-US" sz="1050" b="1" dirty="0">
                          <a:solidFill>
                            <a:srgbClr val="1D2B22"/>
                          </a:solidFill>
                        </a:rPr>
                        <a:t>② × 35%</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algn="ctr" indent="0" marL="0">
                        <a:buNone/>
                      </a:pPr>
                      <a:r>
                        <a:rPr lang="en-US" sz="1050" b="1" dirty="0">
                          <a:solidFill>
                            <a:srgbClr val="1D2B22"/>
                          </a:solidFill>
                        </a:rPr>
                        <a:t>④ Cost</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algn="ctr" indent="0" marL="0">
                        <a:buNone/>
                      </a:pPr>
                      <a:r>
                        <a:rPr lang="en-US" sz="1050" b="1" dirty="0">
                          <a:solidFill>
                            <a:srgbClr val="1D2B22"/>
                          </a:solidFill>
                        </a:rPr>
                        <a:t>Expected</a:t>
                      </a:r>
                      <a:endParaRPr lang="en-US" sz="1050" dirty="0"/>
                    </a:p>
                    <a:p>
                      <a:pPr algn="ctr" indent="0" marL="0">
                        <a:buNone/>
                      </a:pPr>
                      <a:r>
                        <a:rPr lang="en-US" sz="1050" b="1" dirty="0">
                          <a:solidFill>
                            <a:srgbClr val="1D2B22"/>
                          </a:solidFill>
                        </a:rPr>
                        <a:t>③ − ④</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r>
              <a:tr h="411480">
                <a:tc>
                  <a:txBody>
                    <a:bodyPr/>
                    <a:lstStyle/>
                    <a:p>
                      <a:pPr algn="l" indent="0" marL="0">
                        <a:buNone/>
                      </a:pPr>
                      <a:r>
                        <a:rPr lang="en-US" sz="1200" b="1" dirty="0">
                          <a:solidFill>
                            <a:srgbClr val="1D2B22"/>
                          </a:solidFill>
                        </a:rPr>
                        <a:t>Tier 1 · Rep</a:t>
                      </a:r>
                      <a:endParaRPr lang="en-US" sz="120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D2B22"/>
                          </a:solidFill>
                        </a:rPr>
                        <a:t>Service fix + trial case + POS kit</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D2B22"/>
                          </a:solidFill>
                        </a:rPr>
                        <a:t>15%</a:t>
                      </a:r>
                      <a:endParaRPr lang="en-US" sz="120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D2B22"/>
                          </a:solidFill>
                        </a:rPr>
                        <a:t>R$ 236</a:t>
                      </a:r>
                      <a:endParaRPr lang="en-US" sz="120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D2B22"/>
                          </a:solidFill>
                        </a:rPr>
                        <a:t>R$ 83</a:t>
                      </a:r>
                      <a:endParaRPr lang="en-US" sz="120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D2B22"/>
                          </a:solidFill>
                        </a:rPr>
                        <a:t>− R$ 25</a:t>
                      </a:r>
                      <a:endParaRPr lang="en-US" sz="120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6B33"/>
                          </a:solidFill>
                        </a:rPr>
                        <a:t>R$ 58</a:t>
                      </a:r>
                      <a:endParaRPr lang="en-US" sz="120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r>
              <a:tr h="411480">
                <a:tc>
                  <a:txBody>
                    <a:bodyPr/>
                    <a:lstStyle/>
                    <a:p>
                      <a:pPr algn="l" indent="0" marL="0">
                        <a:buNone/>
                      </a:pPr>
                      <a:r>
                        <a:rPr lang="en-US" sz="1200" b="1" dirty="0">
                          <a:solidFill>
                            <a:srgbClr val="1D2B22"/>
                          </a:solidFill>
                        </a:rPr>
                        <a:t>Tier 2 · Manager</a:t>
                      </a:r>
                      <a:endParaRPr lang="en-US" sz="120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D2B22"/>
                          </a:solidFill>
                        </a:rPr>
                        <a:t>Bundle or pizza-partner combo; 5% off the next order</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D2B22"/>
                          </a:solidFill>
                        </a:rPr>
                        <a:t>30%</a:t>
                      </a:r>
                      <a:endParaRPr lang="en-US" sz="120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D2B22"/>
                          </a:solidFill>
                        </a:rPr>
                        <a:t>R$ 473</a:t>
                      </a:r>
                      <a:endParaRPr lang="en-US" sz="120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D2B22"/>
                          </a:solidFill>
                        </a:rPr>
                        <a:t>R$ 166</a:t>
                      </a:r>
                      <a:endParaRPr lang="en-US" sz="120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D2B22"/>
                          </a:solidFill>
                        </a:rPr>
                        <a:t>− R$ 102</a:t>
                      </a:r>
                      <a:endParaRPr lang="en-US" sz="120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6B33"/>
                          </a:solidFill>
                        </a:rPr>
                        <a:t>R$ 63</a:t>
                      </a:r>
                      <a:endParaRPr lang="en-US" sz="120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r>
              <a:tr h="411480">
                <a:tc>
                  <a:txBody>
                    <a:bodyPr/>
                    <a:lstStyle/>
                    <a:p>
                      <a:pPr algn="l" indent="0" marL="0">
                        <a:buNone/>
                      </a:pPr>
                      <a:r>
                        <a:rPr lang="en-US" sz="1200" b="1" dirty="0">
                          <a:solidFill>
                            <a:srgbClr val="1D2B22"/>
                          </a:solidFill>
                        </a:rPr>
                        <a:t>Tier 3 · GM ⭐</a:t>
                      </a:r>
                      <a:endParaRPr lang="en-US" sz="120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algn="l" indent="0" marL="0">
                        <a:buNone/>
                      </a:pPr>
                      <a:r>
                        <a:rPr lang="en-US" sz="1050" dirty="0">
                          <a:solidFill>
                            <a:srgbClr val="1D2B22"/>
                          </a:solidFill>
                        </a:rPr>
                        <a:t>Co-branded event, cooler, loyalty reward</a:t>
                      </a:r>
                      <a:endParaRPr lang="en-US" sz="105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algn="ctr" indent="0" marL="0">
                        <a:buNone/>
                      </a:pPr>
                      <a:r>
                        <a:rPr lang="en-US" sz="1200" dirty="0">
                          <a:solidFill>
                            <a:srgbClr val="1D2B22"/>
                          </a:solidFill>
                        </a:rPr>
                        <a:t>60%</a:t>
                      </a:r>
                      <a:endParaRPr lang="en-US" sz="120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algn="ctr" indent="0" marL="0">
                        <a:buNone/>
                      </a:pPr>
                      <a:r>
                        <a:rPr lang="en-US" sz="1200" dirty="0">
                          <a:solidFill>
                            <a:srgbClr val="1D2B22"/>
                          </a:solidFill>
                        </a:rPr>
                        <a:t>R$ 945</a:t>
                      </a:r>
                      <a:endParaRPr lang="en-US" sz="120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algn="ctr" indent="0" marL="0">
                        <a:buNone/>
                      </a:pPr>
                      <a:r>
                        <a:rPr lang="en-US" sz="1200" dirty="0">
                          <a:solidFill>
                            <a:srgbClr val="1D2B22"/>
                          </a:solidFill>
                        </a:rPr>
                        <a:t>R$ 331</a:t>
                      </a:r>
                      <a:endParaRPr lang="en-US" sz="120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algn="ctr" indent="0" marL="0">
                        <a:buNone/>
                      </a:pPr>
                      <a:r>
                        <a:rPr lang="en-US" sz="1200" dirty="0">
                          <a:solidFill>
                            <a:srgbClr val="1D2B22"/>
                          </a:solidFill>
                        </a:rPr>
                        <a:t>− R$ 203</a:t>
                      </a:r>
                      <a:endParaRPr lang="en-US" sz="120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algn="ctr" indent="0" marL="0">
                        <a:buNone/>
                      </a:pPr>
                      <a:r>
                        <a:rPr lang="en-US" sz="1200" b="1" dirty="0">
                          <a:solidFill>
                            <a:srgbClr val="0B6B33"/>
                          </a:solidFill>
                        </a:rPr>
                        <a:t>R$ 128</a:t>
                      </a:r>
                      <a:endParaRPr lang="en-US" sz="1200" dirty="0"/>
                    </a:p>
                  </a:txBody>
                  <a:tcPr marL="45720" marR="45720" marT="45720" marB="45720"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r>
            </a:tbl>
          </a:graphicData>
        </a:graphic>
      </p:graphicFrame>
      <p:sp>
        <p:nvSpPr>
          <p:cNvPr id="7" name="Explain 0"/>
          <p:cNvSpPr/>
          <p:nvPr/>
        </p:nvSpPr>
        <p:spPr>
          <a:xfrm>
            <a:off x="457200" y="3858768"/>
            <a:ext cx="2606040" cy="841248"/>
          </a:xfrm>
          <a:prstGeom prst="roundRect">
            <a:avLst>
              <a:gd name="adj" fmla="val 13043"/>
            </a:avLst>
          </a:prstGeom>
          <a:solidFill>
            <a:srgbClr val="F3F8F2"/>
          </a:solidFill>
          <a:ln w="12700">
            <a:solidFill>
              <a:srgbClr val="F3F8F2"/>
            </a:solidFill>
            <a:prstDash val="solid"/>
          </a:ln>
        </p:spPr>
      </p:sp>
      <p:sp>
        <p:nvSpPr>
          <p:cNvPr id="8" name="Text 5"/>
          <p:cNvSpPr txBox="1"/>
          <p:nvPr/>
        </p:nvSpPr>
        <p:spPr>
          <a:xfrm>
            <a:off x="594360" y="3904488"/>
            <a:ext cx="2377440" cy="768096"/>
          </a:xfrm>
          <a:prstGeom prst="rect">
            <a:avLst/>
          </a:prstGeom>
          <a:noFill/>
          <a:ln/>
        </p:spPr>
        <p:txBody>
          <a:bodyPr wrap="square" lIns="0" tIns="0" rIns="0" bIns="0" rtlCol="0" anchor="t"/>
          <a:lstStyle/>
          <a:p>
            <a:pPr indent="0" marL="0">
              <a:buNone/>
            </a:pPr>
            <a:r>
              <a:rPr lang="en-US" sz="1200" b="1" dirty="0">
                <a:solidFill>
                  <a:schemeClr val="tx1"/>
                </a:solidFill>
              </a:rPr>
              <a:t>Three alternatives, not a sum</a:t>
            </a:r>
            <a:endParaRPr lang="en-US" sz="1200" dirty="0"/>
          </a:p>
          <a:p>
            <a:pPr indent="0" marL="0">
              <a:buNone/>
            </a:pPr>
            <a:r>
              <a:rPr lang="en-US" sz="1050" dirty="0">
                <a:solidFill>
                  <a:schemeClr val="tx1"/>
                </a:solidFill>
              </a:rPr>
              <a:t>Hoppy compares the rows and recommends one. The rep brings only that offer.</a:t>
            </a:r>
            <a:endParaRPr lang="en-US" sz="1200" dirty="0"/>
          </a:p>
        </p:txBody>
      </p:sp>
      <p:sp>
        <p:nvSpPr>
          <p:cNvPr id="9" name="Explain 1"/>
          <p:cNvSpPr/>
          <p:nvPr/>
        </p:nvSpPr>
        <p:spPr>
          <a:xfrm>
            <a:off x="3246120" y="3858768"/>
            <a:ext cx="2606040" cy="841248"/>
          </a:xfrm>
          <a:prstGeom prst="roundRect">
            <a:avLst>
              <a:gd name="adj" fmla="val 13043"/>
            </a:avLst>
          </a:prstGeom>
          <a:solidFill>
            <a:srgbClr val="F3F8F2"/>
          </a:solidFill>
          <a:ln w="12700">
            <a:solidFill>
              <a:srgbClr val="F3F8F2"/>
            </a:solidFill>
            <a:prstDash val="solid"/>
          </a:ln>
        </p:spPr>
      </p:sp>
      <p:sp>
        <p:nvSpPr>
          <p:cNvPr id="10" name="Text 7"/>
          <p:cNvSpPr txBox="1"/>
          <p:nvPr/>
        </p:nvSpPr>
        <p:spPr>
          <a:xfrm>
            <a:off x="3383280" y="3904488"/>
            <a:ext cx="2377440" cy="768096"/>
          </a:xfrm>
          <a:prstGeom prst="rect">
            <a:avLst/>
          </a:prstGeom>
          <a:noFill/>
          <a:ln/>
        </p:spPr>
        <p:txBody>
          <a:bodyPr wrap="square" lIns="0" tIns="0" rIns="0" bIns="0" rtlCol="0" anchor="t"/>
          <a:lstStyle/>
          <a:p>
            <a:pPr indent="0" marL="0">
              <a:buNone/>
            </a:pPr>
            <a:r>
              <a:rPr lang="en-US" sz="1200" b="1" dirty="0">
                <a:solidFill>
                  <a:schemeClr val="tx1"/>
                </a:solidFill>
              </a:rPr>
              <a:t>No straight price cuts</a:t>
            </a:r>
            <a:endParaRPr lang="en-US" sz="1200" dirty="0"/>
          </a:p>
          <a:p>
            <a:pPr indent="0" marL="0">
              <a:buNone/>
            </a:pPr>
            <a:r>
              <a:rPr lang="en-US" sz="1050" dirty="0">
                <a:solidFill>
                  <a:schemeClr val="tx1"/>
                </a:solidFill>
              </a:rPr>
              <a:t>Every incentive is tied to the next order, a bundle, a partner brand or brand support.</a:t>
            </a:r>
            <a:endParaRPr lang="en-US" sz="1200" dirty="0"/>
          </a:p>
        </p:txBody>
      </p:sp>
      <p:sp>
        <p:nvSpPr>
          <p:cNvPr id="11" name="Explain 2"/>
          <p:cNvSpPr/>
          <p:nvPr/>
        </p:nvSpPr>
        <p:spPr>
          <a:xfrm>
            <a:off x="6035040" y="3858768"/>
            <a:ext cx="2606040" cy="841248"/>
          </a:xfrm>
          <a:prstGeom prst="roundRect">
            <a:avLst>
              <a:gd name="adj" fmla="val 13043"/>
            </a:avLst>
          </a:prstGeom>
          <a:solidFill>
            <a:srgbClr val="F3F8F2"/>
          </a:solidFill>
          <a:ln w="12700">
            <a:solidFill>
              <a:srgbClr val="F3F8F2"/>
            </a:solidFill>
            <a:prstDash val="solid"/>
          </a:ln>
        </p:spPr>
      </p:sp>
      <p:sp>
        <p:nvSpPr>
          <p:cNvPr id="12" name="Text 9"/>
          <p:cNvSpPr txBox="1"/>
          <p:nvPr/>
        </p:nvSpPr>
        <p:spPr>
          <a:xfrm>
            <a:off x="6172200" y="3904488"/>
            <a:ext cx="2377440" cy="768096"/>
          </a:xfrm>
          <a:prstGeom prst="rect">
            <a:avLst/>
          </a:prstGeom>
          <a:noFill/>
          <a:ln/>
        </p:spPr>
        <p:txBody>
          <a:bodyPr wrap="square" lIns="0" tIns="0" rIns="0" bIns="0" rtlCol="0" anchor="t"/>
          <a:lstStyle/>
          <a:p>
            <a:pPr indent="0" marL="0">
              <a:buNone/>
            </a:pPr>
            <a:r>
              <a:rPr lang="en-US" sz="1200" b="1" dirty="0">
                <a:solidFill>
                  <a:schemeClr val="tx1"/>
                </a:solidFill>
              </a:rPr>
              <a:t>A model to test, not a promise</a:t>
            </a:r>
            <a:endParaRPr lang="en-US" sz="1200" dirty="0"/>
          </a:p>
          <a:p>
            <a:pPr indent="0" marL="0">
              <a:buNone/>
            </a:pPr>
            <a:r>
              <a:rPr lang="en-US" sz="1050" dirty="0">
                <a:solidFill>
                  <a:schemeClr val="tx1"/>
                </a:solidFill>
              </a:rPr>
              <a:t>Lift, cost and approvals are simulated; we check the model against real results before rollout.</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756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400" b="1" dirty="0">
                <a:solidFill>
                  <a:schemeClr val="tx1"/>
                </a:solidFill>
              </a:rPr>
              <a:t>4 · From saving accounts to building loyalty</a:t>
            </a:r>
            <a:endParaRPr lang="en-US" sz="2400" dirty="0"/>
          </a:p>
        </p:txBody>
      </p:sp>
      <p:graphicFrame>
        <p:nvGraphicFramePr>
          <p:cNvPr id="7" name="Data table"/>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1188720"/>
                <a:gridCol w="2194560"/>
                <a:gridCol w="2743200"/>
                <a:gridCol w="2103120"/>
              </a:tblGrid>
              <a:tr h="329184">
                <a:tc>
                  <a:txBody>
                    <a:bodyPr/>
                    <a:lstStyle/>
                    <a:p>
                      <a:pPr indent="0" marL="0">
                        <a:buNone/>
                      </a:pPr>
                      <a:r>
                        <a:rPr lang="en-US" sz="1100" b="1" dirty="0">
                          <a:solidFill>
                            <a:srgbClr val="1D2B22"/>
                          </a:solidFill>
                        </a:rPr>
                        <a:t>Input</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indent="0" marL="0">
                        <a:buNone/>
                      </a:pPr>
                      <a:r>
                        <a:rPr lang="en-US" sz="1100" b="1" dirty="0">
                          <a:solidFill>
                            <a:srgbClr val="1D2B22"/>
                          </a:solidFill>
                        </a:rPr>
                        <a:t>Today</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indent="0" marL="0">
                        <a:buNone/>
                      </a:pPr>
                      <a:r>
                        <a:rPr lang="en-US" sz="1100" b="1" dirty="0">
                          <a:solidFill>
                            <a:srgbClr val="1D2B22"/>
                          </a:solidFill>
                        </a:rPr>
                        <a:t>Data to add</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c>
                  <a:txBody>
                    <a:bodyPr/>
                    <a:lstStyle/>
                    <a:p>
                      <a:pPr indent="0" marL="0">
                        <a:buNone/>
                      </a:pPr>
                      <a:r>
                        <a:rPr lang="en-US" sz="1100" b="1" dirty="0">
                          <a:solidFill>
                            <a:srgbClr val="1D2B22"/>
                          </a:solidFill>
                        </a:rPr>
                        <a:t>What improves</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E3F5E8"/>
                    </a:solidFill>
                  </a:tcPr>
                </a:tc>
              </a:tr>
              <a:tr h="329184">
                <a:tc>
                  <a:txBody>
                    <a:bodyPr/>
                    <a:lstStyle/>
                    <a:p>
                      <a:pPr indent="0" marL="0">
                        <a:buNone/>
                      </a:pPr>
                      <a:r>
                        <a:rPr lang="en-US" sz="1100" b="1" dirty="0">
                          <a:solidFill>
                            <a:srgbClr val="1D2B22"/>
                          </a:solidFill>
                        </a:rPr>
                        <a:t>P(churn)</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indent="0" marL="0">
                        <a:buNone/>
                      </a:pPr>
                      <a:r>
                        <a:rPr lang="en-US" sz="1100" dirty="0">
                          <a:solidFill>
                            <a:srgbClr val="1D2B22"/>
                          </a:solidFill>
                        </a:rPr>
                        <a:t>Order rhythm, frequency, value</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indent="0" marL="0">
                        <a:buNone/>
                      </a:pPr>
                      <a:r>
                        <a:rPr lang="en-US" sz="1100" dirty="0">
                          <a:solidFill>
                            <a:srgbClr val="1D2B22"/>
                          </a:solidFill>
                        </a:rPr>
                        <a:t>Visit logs, outlet type, competitor activity</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1F7FF"/>
                    </a:solidFill>
                  </a:tcPr>
                </a:tc>
                <a:tc>
                  <a:txBody>
                    <a:bodyPr/>
                    <a:lstStyle/>
                    <a:p>
                      <a:pPr indent="0" marL="0">
                        <a:buNone/>
                      </a:pPr>
                      <a:r>
                        <a:rPr lang="en-US" sz="1100" dirty="0">
                          <a:solidFill>
                            <a:srgbClr val="1D2B22"/>
                          </a:solidFill>
                        </a:rPr>
                        <a:t>Fewer false alarms</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D2B22"/>
                          </a:solidFill>
                        </a:rPr>
                        <a:t>Gross margin</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indent="0" marL="0">
                        <a:buNone/>
                      </a:pPr>
                      <a:r>
                        <a:rPr lang="en-US" sz="1100" dirty="0">
                          <a:solidFill>
                            <a:srgbClr val="1D2B22"/>
                          </a:solidFill>
                        </a:rPr>
                        <a:t>Assumed 35% flat</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indent="0" marL="0">
                        <a:buNone/>
                      </a:pPr>
                      <a:r>
                        <a:rPr lang="en-US" sz="1100" dirty="0">
                          <a:solidFill>
                            <a:srgbClr val="1D2B22"/>
                          </a:solidFill>
                        </a:rPr>
                        <a:t>Real SKU margins, cost to serve</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1F7FF"/>
                    </a:solidFill>
                  </a:tcPr>
                </a:tc>
                <a:tc>
                  <a:txBody>
                    <a:bodyPr/>
                    <a:lstStyle/>
                    <a:p>
                      <a:pPr indent="0" marL="0">
                        <a:buNone/>
                      </a:pPr>
                      <a:r>
                        <a:rPr lang="en-US" sz="1100" dirty="0">
                          <a:solidFill>
                            <a:srgbClr val="1D2B22"/>
                          </a:solidFill>
                        </a:rPr>
                        <a:t>Profit, not revenue</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D2B22"/>
                          </a:solidFill>
                        </a:rPr>
                        <a:t>Save-lift</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indent="0" marL="0">
                        <a:buNone/>
                      </a:pPr>
                      <a:r>
                        <a:rPr lang="en-US" sz="1100" dirty="0">
                          <a:solidFill>
                            <a:srgbClr val="1D2B22"/>
                          </a:solidFill>
                        </a:rPr>
                        <a:t>Assumed 15 / 30 / 45%</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indent="0" marL="0">
                        <a:buNone/>
                      </a:pPr>
                      <a:r>
                        <a:rPr lang="en-US" sz="1100" dirty="0">
                          <a:solidFill>
                            <a:srgbClr val="1D2B22"/>
                          </a:solidFill>
                        </a:rPr>
                        <a:t>Offer history, A/B tests, visit outcomes</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1F7FF"/>
                    </a:solidFill>
                  </a:tcPr>
                </a:tc>
                <a:tc>
                  <a:txBody>
                    <a:bodyPr/>
                    <a:lstStyle/>
                    <a:p>
                      <a:pPr indent="0" marL="0">
                        <a:buNone/>
                      </a:pPr>
                      <a:r>
                        <a:rPr lang="en-US" sz="1100" dirty="0">
                          <a:solidFill>
                            <a:srgbClr val="1D2B22"/>
                          </a:solidFill>
                        </a:rPr>
                        <a:t>Uplift per account × offer</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D2B22"/>
                          </a:solidFill>
                        </a:rPr>
                        <a:t>Offer cost</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indent="0" marL="0">
                        <a:buNone/>
                      </a:pPr>
                      <a:r>
                        <a:rPr lang="en-US" sz="1100" dirty="0">
                          <a:solidFill>
                            <a:srgbClr val="1D2B22"/>
                          </a:solidFill>
                        </a:rPr>
                        <a:t>Assumed % of spend</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indent="0" marL="0">
                        <a:buNone/>
                      </a:pPr>
                      <a:r>
                        <a:rPr lang="en-US" sz="1100" dirty="0">
                          <a:solidFill>
                            <a:srgbClr val="1D2B22"/>
                          </a:solidFill>
                        </a:rPr>
                        <a:t>Actual redemption &amp; promo cost</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1F7FF"/>
                    </a:solidFill>
                  </a:tcPr>
                </a:tc>
                <a:tc>
                  <a:txBody>
                    <a:bodyPr/>
                    <a:lstStyle/>
                    <a:p>
                      <a:pPr indent="0" marL="0">
                        <a:buNone/>
                      </a:pPr>
                      <a:r>
                        <a:rPr lang="en-US" sz="1100" dirty="0">
                          <a:solidFill>
                            <a:srgbClr val="1D2B22"/>
                          </a:solidFill>
                        </a:rPr>
                        <a:t>Exact ROI</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D2B22"/>
                          </a:solidFill>
                        </a:rPr>
                        <a:t>Lead time</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indent="0" marL="0">
                        <a:buNone/>
                      </a:pPr>
                      <a:r>
                        <a:rPr lang="en-US" sz="1100" dirty="0">
                          <a:solidFill>
                            <a:srgbClr val="1D2B22"/>
                          </a:solidFill>
                        </a:rPr>
                        <a:t>Assumed 0 / 1 / 2 days</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c>
                  <a:txBody>
                    <a:bodyPr/>
                    <a:lstStyle/>
                    <a:p>
                      <a:pPr indent="0" marL="0">
                        <a:buNone/>
                      </a:pPr>
                      <a:r>
                        <a:rPr lang="en-US" sz="1100" dirty="0">
                          <a:solidFill>
                            <a:srgbClr val="1D2B22"/>
                          </a:solidFill>
                        </a:rPr>
                        <a:t>Real approval timestamps</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1F7FF"/>
                    </a:solidFill>
                  </a:tcPr>
                </a:tc>
                <a:tc>
                  <a:txBody>
                    <a:bodyPr/>
                    <a:lstStyle/>
                    <a:p>
                      <a:pPr indent="0" marL="0">
                        <a:buNone/>
                      </a:pPr>
                      <a:r>
                        <a:rPr lang="en-US" sz="1100" dirty="0">
                          <a:solidFill>
                            <a:srgbClr val="1D2B22"/>
                          </a:solidFill>
                        </a:rPr>
                        <a:t>Smarter planning window</a:t>
                      </a:r>
                      <a:endParaRPr lang="en-US" sz="1100" dirty="0"/>
                    </a:p>
                  </a:txBody>
                  <a:tcPr marL="54864" marR="54864" marT="54864" marB="54864" anchor="ctr">
                    <a:lnL w="9525" cap="flat" cmpd="sng" algn="ctr">
                      <a:solidFill>
                        <a:srgbClr val="E4ECE6"/>
                      </a:solidFill>
                      <a:prstDash val="solid"/>
                      <a:round/>
                      <a:headEnd type="none" w="med" len="med"/>
                      <a:tailEnd type="none" w="med" len="med"/>
                    </a:lnL>
                    <a:lnR w="9525" cap="flat" cmpd="sng" algn="ctr">
                      <a:solidFill>
                        <a:srgbClr val="E4ECE6"/>
                      </a:solidFill>
                      <a:prstDash val="solid"/>
                      <a:round/>
                      <a:headEnd type="none" w="med" len="med"/>
                      <a:tailEnd type="none" w="med" len="med"/>
                    </a:lnR>
                    <a:lnT w="9525" cap="flat" cmpd="sng" algn="ctr">
                      <a:solidFill>
                        <a:srgbClr val="E4ECE6"/>
                      </a:solidFill>
                      <a:prstDash val="solid"/>
                      <a:round/>
                      <a:headEnd type="none" w="med" len="med"/>
                      <a:tailEnd type="none" w="med" len="med"/>
                    </a:lnT>
                    <a:lnB w="9525" cap="flat" cmpd="sng" algn="ctr">
                      <a:solidFill>
                        <a:srgbClr val="E4EC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3017520"/>
            <a:ext cx="8229600" cy="274320"/>
          </a:xfrm>
          <a:prstGeom prst="rect">
            <a:avLst/>
          </a:prstGeom>
          <a:noFill/>
          <a:ln/>
        </p:spPr>
        <p:txBody>
          <a:bodyPr wrap="square" lIns="0" tIns="0" rIns="0" bIns="0" rtlCol="0" anchor="t"/>
          <a:lstStyle/>
          <a:p>
            <a:pPr indent="0" marL="0">
              <a:buNone/>
            </a:pPr>
            <a:r>
              <a:rPr lang="en-US" sz="1200" b="1" dirty="0">
                <a:solidFill>
                  <a:schemeClr val="tx1"/>
                </a:solidFill>
              </a:rPr>
              <a:t>Saving accounts is one step. Every outcome flows back so we fix the root cause:</a:t>
            </a:r>
            <a:endParaRPr lang="en-US" sz="1200" dirty="0"/>
          </a:p>
        </p:txBody>
      </p:sp>
      <p:sp>
        <p:nvSpPr>
          <p:cNvPr id="5" name="Loop 0"/>
          <p:cNvSpPr/>
          <p:nvPr/>
        </p:nvSpPr>
        <p:spPr>
          <a:xfrm>
            <a:off x="457200" y="3337560"/>
            <a:ext cx="1874520" cy="457200"/>
          </a:xfrm>
          <a:prstGeom prst="roundRect">
            <a:avLst>
              <a:gd name="adj" fmla="val 24000"/>
            </a:avLst>
          </a:prstGeom>
          <a:solidFill>
            <a:schemeClr val="accent2"/>
          </a:solidFill>
          <a:ln w="12700">
            <a:solidFill>
              <a:schemeClr val="accent2"/>
            </a:solidFill>
            <a:prstDash val="solid"/>
          </a:ln>
        </p:spPr>
      </p:sp>
      <p:sp>
        <p:nvSpPr>
          <p:cNvPr id="6" name="Text 3"/>
          <p:cNvSpPr txBox="1"/>
          <p:nvPr/>
        </p:nvSpPr>
        <p:spPr>
          <a:xfrm>
            <a:off x="457200" y="3337560"/>
            <a:ext cx="1874520" cy="457200"/>
          </a:xfrm>
          <a:prstGeom prst="rect">
            <a:avLst/>
          </a:prstGeom>
          <a:noFill/>
          <a:ln/>
        </p:spPr>
        <p:txBody>
          <a:bodyPr wrap="square" lIns="0" tIns="0" rIns="0" bIns="0" rtlCol="0" anchor="ctr"/>
          <a:lstStyle/>
          <a:p>
            <a:pPr algn="ctr" indent="0" marL="0">
              <a:buNone/>
            </a:pPr>
            <a:r>
              <a:rPr lang="en-US" sz="1200" b="1" dirty="0">
                <a:solidFill>
                  <a:schemeClr val="bg1"/>
                </a:solidFill>
              </a:rPr>
              <a:t>Saved &amp; lost accounts</a:t>
            </a:r>
            <a:endParaRPr lang="en-US" sz="1200" dirty="0"/>
          </a:p>
        </p:txBody>
      </p:sp>
      <p:sp>
        <p:nvSpPr>
          <p:cNvPr id="7" name="Text 4"/>
          <p:cNvSpPr txBox="1"/>
          <p:nvPr/>
        </p:nvSpPr>
        <p:spPr>
          <a:xfrm>
            <a:off x="2331720" y="3337560"/>
            <a:ext cx="228600" cy="457200"/>
          </a:xfrm>
          <a:prstGeom prst="rect">
            <a:avLst/>
          </a:prstGeom>
          <a:noFill/>
          <a:ln/>
        </p:spPr>
        <p:txBody>
          <a:bodyPr wrap="square" lIns="0" tIns="0" rIns="0" bIns="0" rtlCol="0" anchor="ctr"/>
          <a:lstStyle/>
          <a:p>
            <a:pPr algn="ctr" indent="0" marL="0">
              <a:buNone/>
            </a:pPr>
            <a:r>
              <a:rPr lang="en-US" sz="1600" b="1" dirty="0">
                <a:solidFill>
                  <a:srgbClr val="66756B"/>
                </a:solidFill>
              </a:rPr>
              <a:t>→</a:t>
            </a:r>
            <a:endParaRPr lang="en-US" sz="1600" dirty="0"/>
          </a:p>
        </p:txBody>
      </p:sp>
      <p:sp>
        <p:nvSpPr>
          <p:cNvPr id="8" name="Loop 1"/>
          <p:cNvSpPr/>
          <p:nvPr/>
        </p:nvSpPr>
        <p:spPr>
          <a:xfrm>
            <a:off x="2560320" y="3337560"/>
            <a:ext cx="1874520" cy="457200"/>
          </a:xfrm>
          <a:prstGeom prst="roundRect">
            <a:avLst>
              <a:gd name="adj" fmla="val 24000"/>
            </a:avLst>
          </a:prstGeom>
          <a:solidFill>
            <a:schemeClr val="accent3"/>
          </a:solidFill>
          <a:ln w="12700">
            <a:solidFill>
              <a:schemeClr val="accent3"/>
            </a:solidFill>
            <a:prstDash val="solid"/>
          </a:ln>
        </p:spPr>
      </p:sp>
      <p:sp>
        <p:nvSpPr>
          <p:cNvPr id="9" name="Text 6"/>
          <p:cNvSpPr txBox="1"/>
          <p:nvPr/>
        </p:nvSpPr>
        <p:spPr>
          <a:xfrm>
            <a:off x="2560320" y="3337560"/>
            <a:ext cx="1874520" cy="457200"/>
          </a:xfrm>
          <a:prstGeom prst="rect">
            <a:avLst/>
          </a:prstGeom>
          <a:noFill/>
          <a:ln/>
        </p:spPr>
        <p:txBody>
          <a:bodyPr wrap="square" lIns="0" tIns="0" rIns="0" bIns="0" rtlCol="0" anchor="ctr"/>
          <a:lstStyle/>
          <a:p>
            <a:pPr algn="ctr" indent="0" marL="0">
              <a:buNone/>
            </a:pPr>
            <a:r>
              <a:rPr lang="en-US" sz="1200" b="1" dirty="0">
                <a:solidFill>
                  <a:schemeClr val="bg1"/>
                </a:solidFill>
              </a:rPr>
              <a:t>Why did they drift?</a:t>
            </a:r>
            <a:endParaRPr lang="en-US" sz="1200" dirty="0"/>
          </a:p>
        </p:txBody>
      </p:sp>
      <p:sp>
        <p:nvSpPr>
          <p:cNvPr id="10" name="Text 7"/>
          <p:cNvSpPr txBox="1"/>
          <p:nvPr/>
        </p:nvSpPr>
        <p:spPr>
          <a:xfrm>
            <a:off x="4434840" y="3337560"/>
            <a:ext cx="228600" cy="457200"/>
          </a:xfrm>
          <a:prstGeom prst="rect">
            <a:avLst/>
          </a:prstGeom>
          <a:noFill/>
          <a:ln/>
        </p:spPr>
        <p:txBody>
          <a:bodyPr wrap="square" lIns="0" tIns="0" rIns="0" bIns="0" rtlCol="0" anchor="ctr"/>
          <a:lstStyle/>
          <a:p>
            <a:pPr algn="ctr" indent="0" marL="0">
              <a:buNone/>
            </a:pPr>
            <a:r>
              <a:rPr lang="en-US" sz="1600" b="1" dirty="0">
                <a:solidFill>
                  <a:srgbClr val="66756B"/>
                </a:solidFill>
              </a:rPr>
              <a:t>→</a:t>
            </a:r>
            <a:endParaRPr lang="en-US" sz="1600" dirty="0"/>
          </a:p>
        </p:txBody>
      </p:sp>
      <p:sp>
        <p:nvSpPr>
          <p:cNvPr id="11" name="Loop 2"/>
          <p:cNvSpPr/>
          <p:nvPr/>
        </p:nvSpPr>
        <p:spPr>
          <a:xfrm>
            <a:off x="4663440" y="3337560"/>
            <a:ext cx="1874520" cy="457200"/>
          </a:xfrm>
          <a:prstGeom prst="roundRect">
            <a:avLst>
              <a:gd name="adj" fmla="val 24000"/>
            </a:avLst>
          </a:prstGeom>
          <a:solidFill>
            <a:schemeClr val="accent5"/>
          </a:solidFill>
          <a:ln w="12700">
            <a:solidFill>
              <a:schemeClr val="accent5"/>
            </a:solidFill>
            <a:prstDash val="solid"/>
          </a:ln>
        </p:spPr>
      </p:sp>
      <p:sp>
        <p:nvSpPr>
          <p:cNvPr id="12" name="Text 9"/>
          <p:cNvSpPr txBox="1"/>
          <p:nvPr/>
        </p:nvSpPr>
        <p:spPr>
          <a:xfrm>
            <a:off x="4663440" y="3337560"/>
            <a:ext cx="1874520" cy="457200"/>
          </a:xfrm>
          <a:prstGeom prst="rect">
            <a:avLst/>
          </a:prstGeom>
          <a:noFill/>
          <a:ln/>
        </p:spPr>
        <p:txBody>
          <a:bodyPr wrap="square" lIns="0" tIns="0" rIns="0" bIns="0" rtlCol="0" anchor="ctr"/>
          <a:lstStyle/>
          <a:p>
            <a:pPr algn="ctr" indent="0" marL="0">
              <a:buNone/>
            </a:pPr>
            <a:r>
              <a:rPr lang="en-US" sz="1200" b="1" dirty="0">
                <a:solidFill>
                  <a:schemeClr val="bg1"/>
                </a:solidFill>
              </a:rPr>
              <a:t>Fix product, quality, service</a:t>
            </a:r>
            <a:endParaRPr lang="en-US" sz="1200" dirty="0"/>
          </a:p>
        </p:txBody>
      </p:sp>
      <p:sp>
        <p:nvSpPr>
          <p:cNvPr id="13" name="Text 10"/>
          <p:cNvSpPr txBox="1"/>
          <p:nvPr/>
        </p:nvSpPr>
        <p:spPr>
          <a:xfrm>
            <a:off x="6537960" y="3337560"/>
            <a:ext cx="228600" cy="457200"/>
          </a:xfrm>
          <a:prstGeom prst="rect">
            <a:avLst/>
          </a:prstGeom>
          <a:noFill/>
          <a:ln/>
        </p:spPr>
        <p:txBody>
          <a:bodyPr wrap="square" lIns="0" tIns="0" rIns="0" bIns="0" rtlCol="0" anchor="ctr"/>
          <a:lstStyle/>
          <a:p>
            <a:pPr algn="ctr" indent="0" marL="0">
              <a:buNone/>
            </a:pPr>
            <a:r>
              <a:rPr lang="en-US" sz="1600" b="1" dirty="0">
                <a:solidFill>
                  <a:srgbClr val="66756B"/>
                </a:solidFill>
              </a:rPr>
              <a:t>→</a:t>
            </a:r>
            <a:endParaRPr lang="en-US" sz="1600" dirty="0"/>
          </a:p>
        </p:txBody>
      </p:sp>
      <p:sp>
        <p:nvSpPr>
          <p:cNvPr id="14" name="Loop 3"/>
          <p:cNvSpPr/>
          <p:nvPr/>
        </p:nvSpPr>
        <p:spPr>
          <a:xfrm>
            <a:off x="6766560" y="3337560"/>
            <a:ext cx="1874520" cy="457200"/>
          </a:xfrm>
          <a:prstGeom prst="roundRect">
            <a:avLst>
              <a:gd name="adj" fmla="val 24000"/>
            </a:avLst>
          </a:prstGeom>
          <a:solidFill>
            <a:schemeClr val="accent1"/>
          </a:solidFill>
          <a:ln w="12700">
            <a:solidFill>
              <a:schemeClr val="accent1"/>
            </a:solidFill>
            <a:prstDash val="solid"/>
          </a:ln>
        </p:spPr>
      </p:sp>
      <p:sp>
        <p:nvSpPr>
          <p:cNvPr id="15" name="Text 12"/>
          <p:cNvSpPr txBox="1"/>
          <p:nvPr/>
        </p:nvSpPr>
        <p:spPr>
          <a:xfrm>
            <a:off x="6766560" y="3337560"/>
            <a:ext cx="1874520" cy="457200"/>
          </a:xfrm>
          <a:prstGeom prst="rect">
            <a:avLst/>
          </a:prstGeom>
          <a:noFill/>
          <a:ln/>
        </p:spPr>
        <p:txBody>
          <a:bodyPr wrap="square" lIns="0" tIns="0" rIns="0" bIns="0" rtlCol="0" anchor="ctr"/>
          <a:lstStyle/>
          <a:p>
            <a:pPr algn="ctr" indent="0" marL="0">
              <a:buNone/>
            </a:pPr>
            <a:r>
              <a:rPr lang="en-US" sz="1200" b="1" dirty="0">
                <a:solidFill>
                  <a:schemeClr val="bg1"/>
                </a:solidFill>
              </a:rPr>
              <a:t>Brand loyalty</a:t>
            </a:r>
            <a:endParaRPr lang="en-US" sz="1200" dirty="0"/>
          </a:p>
        </p:txBody>
      </p:sp>
      <p:sp>
        <p:nvSpPr>
          <p:cNvPr id="16" name="Road 0"/>
          <p:cNvSpPr/>
          <p:nvPr/>
        </p:nvSpPr>
        <p:spPr>
          <a:xfrm>
            <a:off x="457200" y="3931920"/>
            <a:ext cx="2606040" cy="749808"/>
          </a:xfrm>
          <a:prstGeom prst="roundRect">
            <a:avLst>
              <a:gd name="adj" fmla="val 14634"/>
            </a:avLst>
          </a:prstGeom>
          <a:solidFill>
            <a:srgbClr val="F3F8F2"/>
          </a:solidFill>
          <a:ln w="12700">
            <a:solidFill>
              <a:srgbClr val="F3F8F2"/>
            </a:solidFill>
            <a:prstDash val="solid"/>
          </a:ln>
        </p:spPr>
      </p:sp>
      <p:sp>
        <p:nvSpPr>
          <p:cNvPr id="17" name="Road dot 0"/>
          <p:cNvSpPr/>
          <p:nvPr/>
        </p:nvSpPr>
        <p:spPr>
          <a:xfrm>
            <a:off x="594360" y="4041648"/>
            <a:ext cx="237744" cy="237744"/>
          </a:xfrm>
          <a:prstGeom prst="ellipse">
            <a:avLst/>
          </a:prstGeom>
          <a:solidFill>
            <a:schemeClr val="accent5"/>
          </a:solidFill>
          <a:ln w="12700">
            <a:solidFill>
              <a:schemeClr val="accent5"/>
            </a:solidFill>
            <a:prstDash val="solid"/>
          </a:ln>
        </p:spPr>
      </p:sp>
      <p:sp>
        <p:nvSpPr>
          <p:cNvPr id="18" name="Text 15"/>
          <p:cNvSpPr txBox="1"/>
          <p:nvPr/>
        </p:nvSpPr>
        <p:spPr>
          <a:xfrm>
            <a:off x="932688" y="3986784"/>
            <a:ext cx="2057400" cy="658368"/>
          </a:xfrm>
          <a:prstGeom prst="rect">
            <a:avLst/>
          </a:prstGeom>
          <a:noFill/>
          <a:ln/>
        </p:spPr>
        <p:txBody>
          <a:bodyPr wrap="square" lIns="0" tIns="0" rIns="0" bIns="0" rtlCol="0" anchor="t"/>
          <a:lstStyle/>
          <a:p>
            <a:pPr indent="0" marL="0">
              <a:buNone/>
            </a:pPr>
            <a:r>
              <a:rPr lang="en-US" sz="1150" b="1" dirty="0">
                <a:solidFill>
                  <a:schemeClr val="tx1"/>
                </a:solidFill>
              </a:rPr>
              <a:t>v2 · 0–3 mo · Pilot</a:t>
            </a:r>
            <a:endParaRPr lang="en-US" sz="1150" dirty="0"/>
          </a:p>
          <a:p>
            <a:pPr indent="0" marL="0">
              <a:buNone/>
            </a:pPr>
            <a:r>
              <a:rPr lang="en-US" sz="1050" dirty="0">
                <a:solidFill>
                  <a:schemeClr val="tx1"/>
                </a:solidFill>
              </a:rPr>
              <a:t>2 territories vs control; monthly back-test &amp; re-weighting</a:t>
            </a:r>
            <a:endParaRPr lang="en-US" sz="1150" dirty="0"/>
          </a:p>
        </p:txBody>
      </p:sp>
      <p:sp>
        <p:nvSpPr>
          <p:cNvPr id="19" name="Road 1"/>
          <p:cNvSpPr/>
          <p:nvPr/>
        </p:nvSpPr>
        <p:spPr>
          <a:xfrm>
            <a:off x="3246120" y="3931920"/>
            <a:ext cx="2606040" cy="749808"/>
          </a:xfrm>
          <a:prstGeom prst="roundRect">
            <a:avLst>
              <a:gd name="adj" fmla="val 14634"/>
            </a:avLst>
          </a:prstGeom>
          <a:solidFill>
            <a:srgbClr val="F3F8F2"/>
          </a:solidFill>
          <a:ln w="12700">
            <a:solidFill>
              <a:srgbClr val="F3F8F2"/>
            </a:solidFill>
            <a:prstDash val="solid"/>
          </a:ln>
        </p:spPr>
      </p:sp>
      <p:sp>
        <p:nvSpPr>
          <p:cNvPr id="20" name="Road dot 1"/>
          <p:cNvSpPr/>
          <p:nvPr/>
        </p:nvSpPr>
        <p:spPr>
          <a:xfrm>
            <a:off x="3383280" y="4041648"/>
            <a:ext cx="237744" cy="237744"/>
          </a:xfrm>
          <a:prstGeom prst="ellipse">
            <a:avLst/>
          </a:prstGeom>
          <a:solidFill>
            <a:schemeClr val="accent3"/>
          </a:solidFill>
          <a:ln w="12700">
            <a:solidFill>
              <a:schemeClr val="accent3"/>
            </a:solidFill>
            <a:prstDash val="solid"/>
          </a:ln>
        </p:spPr>
      </p:sp>
      <p:sp>
        <p:nvSpPr>
          <p:cNvPr id="21" name="Text 18"/>
          <p:cNvSpPr txBox="1"/>
          <p:nvPr/>
        </p:nvSpPr>
        <p:spPr>
          <a:xfrm>
            <a:off x="3721608" y="3986784"/>
            <a:ext cx="2057400" cy="658368"/>
          </a:xfrm>
          <a:prstGeom prst="rect">
            <a:avLst/>
          </a:prstGeom>
          <a:noFill/>
          <a:ln/>
        </p:spPr>
        <p:txBody>
          <a:bodyPr wrap="square" lIns="0" tIns="0" rIns="0" bIns="0" rtlCol="0" anchor="t"/>
          <a:lstStyle/>
          <a:p>
            <a:pPr indent="0" marL="0">
              <a:buNone/>
            </a:pPr>
            <a:r>
              <a:rPr lang="en-US" sz="1150" b="1" dirty="0">
                <a:solidFill>
                  <a:schemeClr val="tx1"/>
                </a:solidFill>
              </a:rPr>
              <a:t>v3 · 3–6 mo · Learn</a:t>
            </a:r>
            <a:endParaRPr lang="en-US" sz="1150" dirty="0"/>
          </a:p>
          <a:p>
            <a:pPr indent="0" marL="0">
              <a:buNone/>
            </a:pPr>
            <a:r>
              <a:rPr lang="en-US" sz="1050" dirty="0">
                <a:solidFill>
                  <a:schemeClr val="tx1"/>
                </a:solidFill>
              </a:rPr>
              <a:t>Map churn paths; A/B test offers; uplift model</a:t>
            </a:r>
            <a:endParaRPr lang="en-US" sz="1150" dirty="0"/>
          </a:p>
        </p:txBody>
      </p:sp>
      <p:sp>
        <p:nvSpPr>
          <p:cNvPr id="22" name="Road 2"/>
          <p:cNvSpPr/>
          <p:nvPr/>
        </p:nvSpPr>
        <p:spPr>
          <a:xfrm>
            <a:off x="6035040" y="3931920"/>
            <a:ext cx="2606040" cy="749808"/>
          </a:xfrm>
          <a:prstGeom prst="roundRect">
            <a:avLst>
              <a:gd name="adj" fmla="val 14634"/>
            </a:avLst>
          </a:prstGeom>
          <a:solidFill>
            <a:srgbClr val="F3F8F2"/>
          </a:solidFill>
          <a:ln w="12700">
            <a:solidFill>
              <a:srgbClr val="F3F8F2"/>
            </a:solidFill>
            <a:prstDash val="solid"/>
          </a:ln>
        </p:spPr>
      </p:sp>
      <p:sp>
        <p:nvSpPr>
          <p:cNvPr id="23" name="Road dot 2"/>
          <p:cNvSpPr/>
          <p:nvPr/>
        </p:nvSpPr>
        <p:spPr>
          <a:xfrm>
            <a:off x="6172200" y="4041648"/>
            <a:ext cx="237744" cy="237744"/>
          </a:xfrm>
          <a:prstGeom prst="ellipse">
            <a:avLst/>
          </a:prstGeom>
          <a:solidFill>
            <a:schemeClr val="accent4"/>
          </a:solidFill>
          <a:ln w="12700">
            <a:solidFill>
              <a:schemeClr val="accent4"/>
            </a:solidFill>
            <a:prstDash val="solid"/>
          </a:ln>
        </p:spPr>
      </p:sp>
      <p:sp>
        <p:nvSpPr>
          <p:cNvPr id="24" name="Text 21"/>
          <p:cNvSpPr txBox="1"/>
          <p:nvPr/>
        </p:nvSpPr>
        <p:spPr>
          <a:xfrm>
            <a:off x="6510528" y="3986784"/>
            <a:ext cx="2057400" cy="658368"/>
          </a:xfrm>
          <a:prstGeom prst="rect">
            <a:avLst/>
          </a:prstGeom>
          <a:noFill/>
          <a:ln/>
        </p:spPr>
        <p:txBody>
          <a:bodyPr wrap="square" lIns="0" tIns="0" rIns="0" bIns="0" rtlCol="0" anchor="t"/>
          <a:lstStyle/>
          <a:p>
            <a:pPr indent="0" marL="0">
              <a:buNone/>
            </a:pPr>
            <a:r>
              <a:rPr lang="en-US" sz="1150" b="1" dirty="0">
                <a:solidFill>
                  <a:schemeClr val="tx1"/>
                </a:solidFill>
              </a:rPr>
              <a:t>v4 · 6–12 mo · Scale</a:t>
            </a:r>
            <a:endParaRPr lang="en-US" sz="1150" dirty="0"/>
          </a:p>
          <a:p>
            <a:pPr indent="0" marL="0">
              <a:buNone/>
            </a:pPr>
            <a:r>
              <a:rPr lang="en-US" sz="1050" dirty="0">
                <a:solidFill>
                  <a:schemeClr val="tx1"/>
                </a:solidFill>
              </a:rPr>
              <a:t>Plug into AIDDA; loyalty programme; multi-market</a:t>
            </a:r>
            <a:endParaRPr lang="en-US" sz="115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756B"/>
                </a:solidFill>
              </a:defRPr>
            </a:lvl1pPr>
          </a:lstStyle>
          <a:p>
            <a:pPr algn="l"/>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Hoppy Green">
  <a:themeElements>
    <a:clrScheme name="Hoppy Green">
      <a:dk1>
        <a:srgbClr val="1D2B22"/>
      </a:dk1>
      <a:lt1>
        <a:srgbClr val="FFFFFF"/>
      </a:lt1>
      <a:dk2>
        <a:srgbClr val="0B6B33"/>
      </a:dk2>
      <a:lt2>
        <a:srgbClr val="E3F5E8"/>
      </a:lt2>
      <a:accent1>
        <a:srgbClr val="1FA84F"/>
      </a:accent1>
      <a:accent2>
        <a:srgbClr val="FF5A5F"/>
      </a:accent2>
      <a:accent3>
        <a:srgbClr val="FF9F43"/>
      </a:accent3>
      <a:accent4>
        <a:srgbClr val="8B5CF6"/>
      </a:accent4>
      <a:accent5>
        <a:srgbClr val="3B82F6"/>
      </a:accent5>
      <a:accent6>
        <a:srgbClr val="C2417F"/>
      </a:accent6>
      <a:hlink>
        <a:srgbClr val="1FA84F"/>
      </a:hlink>
      <a:folHlink>
        <a:srgbClr val="0B6B33"/>
      </a:folHlink>
    </a:clrScheme>
    <a:fontScheme name="Hoppy Gree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Retention Copilot</dc:title>
  <dc:subject>PptxGenJS Presentation</dc:subject>
  <dc:creator>PptxGenJS</dc:creator>
  <cp:lastModifiedBy>PptxGenJS</cp:lastModifiedBy>
  <cp:revision>1</cp:revision>
  <dcterms:created xsi:type="dcterms:W3CDTF">2026-10-07T12:44:37Z</dcterms:created>
  <dcterms:modified xsi:type="dcterms:W3CDTF">2026-10-07T12:44:37Z</dcterms:modified>
</cp:coreProperties>
</file>